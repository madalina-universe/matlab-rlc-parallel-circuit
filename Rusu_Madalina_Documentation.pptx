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1"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5" r:id="rId30"/>
    <p:sldId id="286" r:id="rId31"/>
  </p:sldIdLst>
  <p:sldSz cx="12192000" cy="6858000"/>
  <p:notesSz cx="6858000" cy="9144000"/>
  <p:defaultTextStyle>
    <a:defPPr>
      <a:defRPr lang="ro-R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0" d="100"/>
          <a:sy n="60" d="100"/>
        </p:scale>
        <p:origin x="90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F9204-3F29-4C3A-BA41-3063400202C4}"/>
              </a:ext>
            </a:extLst>
          </p:cNvPr>
          <p:cNvSpPr>
            <a:spLocks noGrp="1"/>
          </p:cNvSpPr>
          <p:nvPr>
            <p:ph type="ctrTitle"/>
          </p:nvPr>
        </p:nvSpPr>
        <p:spPr>
          <a:xfrm>
            <a:off x="1524000" y="1122363"/>
            <a:ext cx="9144000" cy="2387600"/>
          </a:xfrm>
        </p:spPr>
        <p:txBody>
          <a:bodyPr anchor="b"/>
          <a:lstStyle>
            <a:lvl1pPr algn="ctr">
              <a:defRPr sz="4400"/>
            </a:lvl1pPr>
          </a:lstStyle>
          <a:p>
            <a:r>
              <a:rPr lang="en-US" dirty="0"/>
              <a:t>Click to edit Master title style</a:t>
            </a:r>
          </a:p>
        </p:txBody>
      </p:sp>
      <p:sp>
        <p:nvSpPr>
          <p:cNvPr id="3" name="Subtitle 2">
            <a:extLst>
              <a:ext uri="{FF2B5EF4-FFF2-40B4-BE49-F238E27FC236}">
                <a16:creationId xmlns:a16="http://schemas.microsoft.com/office/drawing/2014/main" id="{203393CD-7262-4AC7-80E6-52FE6F3F39BA}"/>
              </a:ext>
            </a:extLst>
          </p:cNvPr>
          <p:cNvSpPr>
            <a:spLocks noGrp="1"/>
          </p:cNvSpPr>
          <p:nvPr>
            <p:ph type="subTitle" idx="1"/>
          </p:nvPr>
        </p:nvSpPr>
        <p:spPr>
          <a:xfrm>
            <a:off x="1524000" y="3602038"/>
            <a:ext cx="9144000" cy="1655762"/>
          </a:xfrm>
        </p:spPr>
        <p:txBody>
          <a:bodyPr/>
          <a:lstStyle>
            <a:lvl1pPr marL="0" indent="0" algn="ctr">
              <a:buNone/>
              <a:defRPr sz="20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D7D430AE-0210-4E82-AD7B-41B112DE7F7D}"/>
              </a:ext>
            </a:extLst>
          </p:cNvPr>
          <p:cNvSpPr>
            <a:spLocks noGrp="1"/>
          </p:cNvSpPr>
          <p:nvPr>
            <p:ph type="dt" sz="half" idx="10"/>
          </p:nvPr>
        </p:nvSpPr>
        <p:spPr/>
        <p:txBody>
          <a:bodyPr/>
          <a:lstStyle>
            <a:lvl1pPr>
              <a:defRPr>
                <a:latin typeface="+mn-lt"/>
              </a:defRPr>
            </a:lvl1pPr>
          </a:lstStyle>
          <a:p>
            <a:fld id="{11A6662E-FAF4-44BC-88B5-85A7CBFB6D30}" type="datetime1">
              <a:rPr lang="en-US" smtClean="0"/>
              <a:pPr/>
              <a:t>1/7/2025</a:t>
            </a:fld>
            <a:endParaRPr lang="en-US"/>
          </a:p>
        </p:txBody>
      </p:sp>
      <p:sp>
        <p:nvSpPr>
          <p:cNvPr id="5" name="Footer Placeholder 4">
            <a:extLst>
              <a:ext uri="{FF2B5EF4-FFF2-40B4-BE49-F238E27FC236}">
                <a16:creationId xmlns:a16="http://schemas.microsoft.com/office/drawing/2014/main" id="{0F221974-7DEC-459D-9642-CB5B59C82771}"/>
              </a:ext>
            </a:extLst>
          </p:cNvPr>
          <p:cNvSpPr>
            <a:spLocks noGrp="1"/>
          </p:cNvSpPr>
          <p:nvPr>
            <p:ph type="ftr" sz="quarter" idx="11"/>
          </p:nvPr>
        </p:nvSpPr>
        <p:spPr/>
        <p:txBody>
          <a:bodyPr/>
          <a:lstStyle>
            <a:lvl1pPr>
              <a:defRPr>
                <a:latin typeface="+mn-lt"/>
              </a:defRPr>
            </a:lvl1pPr>
          </a:lstStyle>
          <a:p>
            <a:endParaRPr lang="en-US"/>
          </a:p>
        </p:txBody>
      </p:sp>
      <p:sp>
        <p:nvSpPr>
          <p:cNvPr id="6" name="Slide Number Placeholder 5">
            <a:extLst>
              <a:ext uri="{FF2B5EF4-FFF2-40B4-BE49-F238E27FC236}">
                <a16:creationId xmlns:a16="http://schemas.microsoft.com/office/drawing/2014/main" id="{60731837-C94E-4B5B-BCF0-110C69EDB41C}"/>
              </a:ext>
            </a:extLst>
          </p:cNvPr>
          <p:cNvSpPr>
            <a:spLocks noGrp="1"/>
          </p:cNvSpPr>
          <p:nvPr>
            <p:ph type="sldNum" sz="quarter" idx="12"/>
          </p:nvPr>
        </p:nvSpPr>
        <p:spPr/>
        <p:txBody>
          <a:bodyPr/>
          <a:lstStyle>
            <a:lvl1pPr>
              <a:defRPr>
                <a:latin typeface="+mn-lt"/>
              </a:defRPr>
            </a:lvl1pPr>
          </a:lstStyle>
          <a:p>
            <a:fld id="{73B850FF-6169-4056-8077-06FFA93A5366}" type="slidenum">
              <a:rPr lang="en-US" smtClean="0"/>
              <a:pPr/>
              <a:t>‹#›</a:t>
            </a:fld>
            <a:endParaRPr lang="en-US"/>
          </a:p>
        </p:txBody>
      </p:sp>
    </p:spTree>
    <p:extLst>
      <p:ext uri="{BB962C8B-B14F-4D97-AF65-F5344CB8AC3E}">
        <p14:creationId xmlns:p14="http://schemas.microsoft.com/office/powerpoint/2010/main" val="1350822216"/>
      </p:ext>
    </p:extLst>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CC1FC-ADE8-488C-A1DA-2FD569FD4D09}"/>
              </a:ext>
            </a:extLst>
          </p:cNvPr>
          <p:cNvSpPr>
            <a:spLocks noGrp="1"/>
          </p:cNvSpPr>
          <p:nvPr>
            <p:ph type="title"/>
          </p:nvPr>
        </p:nvSpPr>
        <p:spPr>
          <a:xfrm>
            <a:off x="838200" y="365760"/>
            <a:ext cx="10515600" cy="1325563"/>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57F02842-38C3-46D6-8527-0F6FE623C511}"/>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E864CF5-F681-40C2-88CC-E02206C9CECB}"/>
              </a:ext>
            </a:extLst>
          </p:cNvPr>
          <p:cNvSpPr>
            <a:spLocks noGrp="1"/>
          </p:cNvSpPr>
          <p:nvPr>
            <p:ph type="dt" sz="half" idx="10"/>
          </p:nvPr>
        </p:nvSpPr>
        <p:spPr/>
        <p:txBody>
          <a:bodyPr/>
          <a:lstStyle/>
          <a:p>
            <a:fld id="{0055F08A-1E71-4B2B-BB49-E743F2903911}" type="datetime1">
              <a:rPr lang="en-US" smtClean="0"/>
              <a:t>1/7/2025</a:t>
            </a:fld>
            <a:endParaRPr lang="en-US" dirty="0"/>
          </a:p>
        </p:txBody>
      </p:sp>
      <p:sp>
        <p:nvSpPr>
          <p:cNvPr id="5" name="Footer Placeholder 4">
            <a:extLst>
              <a:ext uri="{FF2B5EF4-FFF2-40B4-BE49-F238E27FC236}">
                <a16:creationId xmlns:a16="http://schemas.microsoft.com/office/drawing/2014/main" id="{82C04753-4FE4-4A6F-99BB-CFFC92E0CD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A569D1-DB13-4BD9-8BA9-0DEAD98F893F}"/>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40438498"/>
      </p:ext>
    </p:extLst>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20B05-7BF6-4073-9106-FA19E97273CB}"/>
              </a:ext>
            </a:extLst>
          </p:cNvPr>
          <p:cNvSpPr>
            <a:spLocks noGrp="1"/>
          </p:cNvSpPr>
          <p:nvPr>
            <p:ph type="title"/>
          </p:nvPr>
        </p:nvSpPr>
        <p:spPr>
          <a:xfrm>
            <a:off x="831850" y="1709738"/>
            <a:ext cx="10515600" cy="2852737"/>
          </a:xfrm>
        </p:spPr>
        <p:txBody>
          <a:bodyPr anchor="b"/>
          <a:lstStyle>
            <a:lvl1pP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E8EE8D7-6B58-4A3F-9DD5-E563D5192A68}"/>
              </a:ext>
            </a:extLst>
          </p:cNvPr>
          <p:cNvSpPr>
            <a:spLocks noGrp="1"/>
          </p:cNvSpPr>
          <p:nvPr>
            <p:ph type="body" idx="1"/>
          </p:nvPr>
        </p:nvSpPr>
        <p:spPr>
          <a:xfrm>
            <a:off x="831850" y="4589463"/>
            <a:ext cx="10515600"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02990E-9F0A-446A-B5B8-459CA8D98D92}"/>
              </a:ext>
            </a:extLst>
          </p:cNvPr>
          <p:cNvSpPr>
            <a:spLocks noGrp="1"/>
          </p:cNvSpPr>
          <p:nvPr>
            <p:ph type="dt" sz="half" idx="10"/>
          </p:nvPr>
        </p:nvSpPr>
        <p:spPr/>
        <p:txBody>
          <a:bodyPr/>
          <a:lstStyle/>
          <a:p>
            <a:fld id="{15417D9E-721A-44BB-8863-9873FE64DA75}" type="datetime1">
              <a:rPr lang="en-US" smtClean="0"/>
              <a:t>1/7/2025</a:t>
            </a:fld>
            <a:endParaRPr lang="en-US"/>
          </a:p>
        </p:txBody>
      </p:sp>
      <p:sp>
        <p:nvSpPr>
          <p:cNvPr id="5" name="Footer Placeholder 4">
            <a:extLst>
              <a:ext uri="{FF2B5EF4-FFF2-40B4-BE49-F238E27FC236}">
                <a16:creationId xmlns:a16="http://schemas.microsoft.com/office/drawing/2014/main" id="{89E68EAA-4377-45FF-9D7C-9E77BC9F27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07FA71-74C3-44B8-A0AC-E18A1E76B43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190037604"/>
      </p:ext>
    </p:extLst>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71F12-2D88-4F76-AF46-BD5156C127A9}"/>
              </a:ext>
            </a:extLst>
          </p:cNvPr>
          <p:cNvSpPr>
            <a:spLocks noGrp="1"/>
          </p:cNvSpPr>
          <p:nvPr>
            <p:ph type="title"/>
          </p:nvPr>
        </p:nvSpPr>
        <p:spPr>
          <a:xfrm>
            <a:off x="838200" y="365760"/>
            <a:ext cx="1051560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6E1AA46-E3EB-4704-B019-F90F1E6177A5}"/>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5C17480F-A530-4D05-9A22-E573FB4BA62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5B56FDA-C47A-4F4A-A364-BA60A25AB90A}"/>
              </a:ext>
            </a:extLst>
          </p:cNvPr>
          <p:cNvSpPr>
            <a:spLocks noGrp="1"/>
          </p:cNvSpPr>
          <p:nvPr>
            <p:ph type="dt" sz="half" idx="10"/>
          </p:nvPr>
        </p:nvSpPr>
        <p:spPr/>
        <p:txBody>
          <a:bodyPr/>
          <a:lstStyle/>
          <a:p>
            <a:fld id="{5F31DA2F-80B8-49CF-99FB-5ABCA53A607A}" type="datetime1">
              <a:rPr lang="en-US" smtClean="0"/>
              <a:t>1/7/2025</a:t>
            </a:fld>
            <a:endParaRPr lang="en-US"/>
          </a:p>
        </p:txBody>
      </p:sp>
      <p:sp>
        <p:nvSpPr>
          <p:cNvPr id="6" name="Footer Placeholder 5">
            <a:extLst>
              <a:ext uri="{FF2B5EF4-FFF2-40B4-BE49-F238E27FC236}">
                <a16:creationId xmlns:a16="http://schemas.microsoft.com/office/drawing/2014/main" id="{7326D8DD-6D84-44D4-8A1B-57615B3ED8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C8FE31-B577-4017-8AFE-A8BA09596E9C}"/>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957857042"/>
      </p:ext>
    </p:extLst>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C28C9-B8CC-413F-9FFA-626680E4A82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B53FE72-9D42-45F5-A37F-B12130388AD5}"/>
              </a:ext>
            </a:extLst>
          </p:cNvPr>
          <p:cNvSpPr>
            <a:spLocks noGrp="1"/>
          </p:cNvSpPr>
          <p:nvPr>
            <p:ph type="body" idx="1"/>
          </p:nvPr>
        </p:nvSpPr>
        <p:spPr>
          <a:xfrm>
            <a:off x="839788" y="1752600"/>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E3A31D-9B5F-4DE3-B18D-F7F77782EB46}"/>
              </a:ext>
            </a:extLst>
          </p:cNvPr>
          <p:cNvSpPr>
            <a:spLocks noGrp="1"/>
          </p:cNvSpPr>
          <p:nvPr>
            <p:ph sz="half" idx="2"/>
          </p:nvPr>
        </p:nvSpPr>
        <p:spPr>
          <a:xfrm>
            <a:off x="839788" y="2666999"/>
            <a:ext cx="5157787" cy="3522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F0BE1D2D-822C-466C-A7B9-1A2D97366A41}"/>
              </a:ext>
            </a:extLst>
          </p:cNvPr>
          <p:cNvSpPr>
            <a:spLocks noGrp="1"/>
          </p:cNvSpPr>
          <p:nvPr>
            <p:ph type="body" sz="quarter" idx="3"/>
          </p:nvPr>
        </p:nvSpPr>
        <p:spPr>
          <a:xfrm>
            <a:off x="6172200" y="1752600"/>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F13B2C-44CA-49C4-BC84-02AF1638F381}"/>
              </a:ext>
            </a:extLst>
          </p:cNvPr>
          <p:cNvSpPr>
            <a:spLocks noGrp="1"/>
          </p:cNvSpPr>
          <p:nvPr>
            <p:ph sz="quarter" idx="4"/>
          </p:nvPr>
        </p:nvSpPr>
        <p:spPr>
          <a:xfrm>
            <a:off x="6172200" y="2666999"/>
            <a:ext cx="5183188" cy="3522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793CB55-E9C1-4CE6-9B61-81B71475B960}"/>
              </a:ext>
            </a:extLst>
          </p:cNvPr>
          <p:cNvSpPr>
            <a:spLocks noGrp="1"/>
          </p:cNvSpPr>
          <p:nvPr>
            <p:ph type="dt" sz="half" idx="10"/>
          </p:nvPr>
        </p:nvSpPr>
        <p:spPr/>
        <p:txBody>
          <a:bodyPr/>
          <a:lstStyle/>
          <a:p>
            <a:fld id="{28852172-E6C9-4B6C-929A-A9DE3837BBF1}" type="datetime1">
              <a:rPr lang="en-US" smtClean="0"/>
              <a:t>1/7/2025</a:t>
            </a:fld>
            <a:endParaRPr lang="en-US"/>
          </a:p>
        </p:txBody>
      </p:sp>
      <p:sp>
        <p:nvSpPr>
          <p:cNvPr id="8" name="Footer Placeholder 7">
            <a:extLst>
              <a:ext uri="{FF2B5EF4-FFF2-40B4-BE49-F238E27FC236}">
                <a16:creationId xmlns:a16="http://schemas.microsoft.com/office/drawing/2014/main" id="{0DF22318-747B-4EC9-862C-D9FD488CCCE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CFBDDDF-16BD-438D-937D-0E3E30E74E86}"/>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696752248"/>
      </p:ext>
    </p:extLst>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92D5F-0BD4-4517-9233-E08AF405B6DE}"/>
              </a:ext>
            </a:extLst>
          </p:cNvPr>
          <p:cNvSpPr>
            <a:spLocks noGrp="1"/>
          </p:cNvSpPr>
          <p:nvPr>
            <p:ph type="title"/>
          </p:nvPr>
        </p:nvSpPr>
        <p:spPr>
          <a:xfrm>
            <a:off x="838200" y="365760"/>
            <a:ext cx="10515600" cy="1325563"/>
          </a:xfrm>
        </p:spPr>
        <p:txBody>
          <a:bodyPr/>
          <a:lstStyle/>
          <a:p>
            <a:r>
              <a:rPr lang="en-US"/>
              <a:t>Click to edit Master title style</a:t>
            </a:r>
          </a:p>
        </p:txBody>
      </p:sp>
      <p:sp>
        <p:nvSpPr>
          <p:cNvPr id="3" name="Date Placeholder 2">
            <a:extLst>
              <a:ext uri="{FF2B5EF4-FFF2-40B4-BE49-F238E27FC236}">
                <a16:creationId xmlns:a16="http://schemas.microsoft.com/office/drawing/2014/main" id="{B83523B8-51E3-48B8-BFD8-CE950619804E}"/>
              </a:ext>
            </a:extLst>
          </p:cNvPr>
          <p:cNvSpPr>
            <a:spLocks noGrp="1"/>
          </p:cNvSpPr>
          <p:nvPr>
            <p:ph type="dt" sz="half" idx="10"/>
          </p:nvPr>
        </p:nvSpPr>
        <p:spPr/>
        <p:txBody>
          <a:bodyPr/>
          <a:lstStyle/>
          <a:p>
            <a:fld id="{3AB41CFF-90C9-47B3-9DA1-F2BF8D839F7E}" type="datetime1">
              <a:rPr lang="en-US" smtClean="0"/>
              <a:t>1/7/2025</a:t>
            </a:fld>
            <a:endParaRPr lang="en-US"/>
          </a:p>
        </p:txBody>
      </p:sp>
      <p:sp>
        <p:nvSpPr>
          <p:cNvPr id="4" name="Footer Placeholder 3">
            <a:extLst>
              <a:ext uri="{FF2B5EF4-FFF2-40B4-BE49-F238E27FC236}">
                <a16:creationId xmlns:a16="http://schemas.microsoft.com/office/drawing/2014/main" id="{7D739B90-5D50-4424-B51D-53C39162186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16F9286-3A00-4D3C-A3F0-50AC9045C4E1}"/>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682699029"/>
      </p:ext>
    </p:extLst>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933BE2-665A-42DA-A3B7-835F81A3F46B}"/>
              </a:ext>
            </a:extLst>
          </p:cNvPr>
          <p:cNvSpPr>
            <a:spLocks noGrp="1"/>
          </p:cNvSpPr>
          <p:nvPr>
            <p:ph type="dt" sz="half" idx="10"/>
          </p:nvPr>
        </p:nvSpPr>
        <p:spPr/>
        <p:txBody>
          <a:bodyPr/>
          <a:lstStyle/>
          <a:p>
            <a:fld id="{F06048FA-06AB-4884-A69B-986B96E68A24}" type="datetime1">
              <a:rPr lang="en-US" smtClean="0"/>
              <a:t>1/7/2025</a:t>
            </a:fld>
            <a:endParaRPr lang="en-US"/>
          </a:p>
        </p:txBody>
      </p:sp>
      <p:sp>
        <p:nvSpPr>
          <p:cNvPr id="3" name="Footer Placeholder 2">
            <a:extLst>
              <a:ext uri="{FF2B5EF4-FFF2-40B4-BE49-F238E27FC236}">
                <a16:creationId xmlns:a16="http://schemas.microsoft.com/office/drawing/2014/main" id="{634DBCBD-AD42-432D-ABA9-20D616AF3ED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E140251-3596-4673-B24B-59A6F9ED8FB3}"/>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923582847"/>
      </p:ext>
    </p:extLst>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A81A1-6D8E-4DD6-8E49-DABDE6D107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693F18F-F78D-4A31-A6BC-6552105BCF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582C2F4-BDF4-4A4F-AA3D-52692932C2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13850F-5C87-4F08-9658-EAF049B60EB0}"/>
              </a:ext>
            </a:extLst>
          </p:cNvPr>
          <p:cNvSpPr>
            <a:spLocks noGrp="1"/>
          </p:cNvSpPr>
          <p:nvPr>
            <p:ph type="dt" sz="half" idx="10"/>
          </p:nvPr>
        </p:nvSpPr>
        <p:spPr/>
        <p:txBody>
          <a:bodyPr/>
          <a:lstStyle/>
          <a:p>
            <a:fld id="{50DB7ABA-0172-4F9C-889D-567164F66BCD}" type="datetime1">
              <a:rPr lang="en-US" smtClean="0"/>
              <a:t>1/7/2025</a:t>
            </a:fld>
            <a:endParaRPr lang="en-US"/>
          </a:p>
        </p:txBody>
      </p:sp>
      <p:sp>
        <p:nvSpPr>
          <p:cNvPr id="6" name="Footer Placeholder 5">
            <a:extLst>
              <a:ext uri="{FF2B5EF4-FFF2-40B4-BE49-F238E27FC236}">
                <a16:creationId xmlns:a16="http://schemas.microsoft.com/office/drawing/2014/main" id="{210BCE9A-A746-4439-B5D3-966FBC8E5F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1D3B51-AA2E-4AA1-8062-A0D476D80CCB}"/>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120764277"/>
      </p:ext>
    </p:extLst>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02CF7-F453-4B3E-9510-D747979878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3E2A1B9-8A2A-4B49-8B79-76D3EEB36B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BD9FEA03-0EC4-4085-AE63-4AA492D61A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05AD5B-0DEA-4C6F-94D2-FAA99F2E5DA9}"/>
              </a:ext>
            </a:extLst>
          </p:cNvPr>
          <p:cNvSpPr>
            <a:spLocks noGrp="1"/>
          </p:cNvSpPr>
          <p:nvPr>
            <p:ph type="dt" sz="half" idx="10"/>
          </p:nvPr>
        </p:nvSpPr>
        <p:spPr/>
        <p:txBody>
          <a:bodyPr/>
          <a:lstStyle/>
          <a:p>
            <a:fld id="{78AC6A5B-8AE7-4A41-B5A7-9ADC6686DC18}" type="datetime1">
              <a:rPr lang="en-US" smtClean="0"/>
              <a:t>1/7/2025</a:t>
            </a:fld>
            <a:endParaRPr lang="en-US"/>
          </a:p>
        </p:txBody>
      </p:sp>
      <p:sp>
        <p:nvSpPr>
          <p:cNvPr id="6" name="Footer Placeholder 5">
            <a:extLst>
              <a:ext uri="{FF2B5EF4-FFF2-40B4-BE49-F238E27FC236}">
                <a16:creationId xmlns:a16="http://schemas.microsoft.com/office/drawing/2014/main" id="{F0DC6744-7CBA-4A1D-8F87-10699F9812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AD9048-35FF-4BE9-8157-BE4BAA1C7251}"/>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007313222"/>
      </p:ext>
    </p:extLst>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ABDD2-E186-4F25-8FDE-D1E875E9C30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318CC5B-A7E0-48B1-8329-6533AC76E7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905B1B-77FE-4BFC-BF87-87DA989F0082}"/>
              </a:ext>
            </a:extLst>
          </p:cNvPr>
          <p:cNvSpPr>
            <a:spLocks noGrp="1"/>
          </p:cNvSpPr>
          <p:nvPr>
            <p:ph type="dt" sz="half" idx="10"/>
          </p:nvPr>
        </p:nvSpPr>
        <p:spPr/>
        <p:txBody>
          <a:bodyPr/>
          <a:lstStyle/>
          <a:p>
            <a:fld id="{4C559632-1575-4E14-B53B-3DC3D5ED3947}" type="datetime1">
              <a:rPr lang="en-US" smtClean="0"/>
              <a:t>1/7/2025</a:t>
            </a:fld>
            <a:endParaRPr lang="en-US"/>
          </a:p>
        </p:txBody>
      </p:sp>
      <p:sp>
        <p:nvSpPr>
          <p:cNvPr id="5" name="Footer Placeholder 4">
            <a:extLst>
              <a:ext uri="{FF2B5EF4-FFF2-40B4-BE49-F238E27FC236}">
                <a16:creationId xmlns:a16="http://schemas.microsoft.com/office/drawing/2014/main" id="{3118531E-1B90-4631-BD37-4BB1DBFABF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8A55E8-88DC-4280-8E04-FF50FF8EDB5A}"/>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4006724327"/>
      </p:ext>
    </p:extLst>
  </p:cSld>
  <p:clrMapOvr>
    <a:masterClrMapping/>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60633D-90E4-4F5A-9EBF-DDEC2B0B471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DDD3065-FA3D-42C8-BFDA-967C87F4F28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DC126F-38E2-4425-861F-98ED432284BA}"/>
              </a:ext>
            </a:extLst>
          </p:cNvPr>
          <p:cNvSpPr>
            <a:spLocks noGrp="1"/>
          </p:cNvSpPr>
          <p:nvPr>
            <p:ph type="dt" sz="half" idx="10"/>
          </p:nvPr>
        </p:nvSpPr>
        <p:spPr/>
        <p:txBody>
          <a:bodyPr/>
          <a:lstStyle/>
          <a:p>
            <a:fld id="{CC4A6868-2568-4CC9-B302-F37117B01A6E}" type="datetime1">
              <a:rPr lang="en-US" smtClean="0"/>
              <a:t>1/7/2025</a:t>
            </a:fld>
            <a:endParaRPr lang="en-US"/>
          </a:p>
        </p:txBody>
      </p:sp>
      <p:sp>
        <p:nvSpPr>
          <p:cNvPr id="5" name="Footer Placeholder 4">
            <a:extLst>
              <a:ext uri="{FF2B5EF4-FFF2-40B4-BE49-F238E27FC236}">
                <a16:creationId xmlns:a16="http://schemas.microsoft.com/office/drawing/2014/main" id="{CA9645D8-F22A-4354-A8B3-96E8A2D232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9E2295-A616-4D57-8800-7B7E213A8CC8}"/>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338276617"/>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40" name="Picture 39">
            <a:extLst>
              <a:ext uri="{FF2B5EF4-FFF2-40B4-BE49-F238E27FC236}">
                <a16:creationId xmlns:a16="http://schemas.microsoft.com/office/drawing/2014/main" id="{1CB7E8AE-A3AC-4BB7-A5C6-F00EC697B265}"/>
              </a:ext>
            </a:extLst>
          </p:cNvPr>
          <p:cNvPicPr>
            <a:picLocks noChangeAspect="1"/>
          </p:cNvPicPr>
          <p:nvPr/>
        </p:nvPicPr>
        <p:blipFill>
          <a:blip r:embed="rId13">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p:nvSpPr>
          <p:cNvPr id="2" name="Title Placeholder 1">
            <a:extLst>
              <a:ext uri="{FF2B5EF4-FFF2-40B4-BE49-F238E27FC236}">
                <a16:creationId xmlns:a16="http://schemas.microsoft.com/office/drawing/2014/main" id="{E9984D45-0ED3-4D03-8E44-5E355C9134F1}"/>
              </a:ext>
            </a:extLst>
          </p:cNvPr>
          <p:cNvSpPr>
            <a:spLocks noGrp="1"/>
          </p:cNvSpPr>
          <p:nvPr>
            <p:ph type="title"/>
          </p:nvPr>
        </p:nvSpPr>
        <p:spPr>
          <a:xfrm>
            <a:off x="838200" y="425450"/>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1F687D6E-D1E9-489C-9AA9-3575C39BAA0B}"/>
              </a:ext>
            </a:extLst>
          </p:cNvPr>
          <p:cNvSpPr>
            <a:spLocks noGrp="1"/>
          </p:cNvSpPr>
          <p:nvPr>
            <p:ph type="body" idx="1"/>
          </p:nvPr>
        </p:nvSpPr>
        <p:spPr>
          <a:xfrm>
            <a:off x="838200" y="1949450"/>
            <a:ext cx="10515600" cy="41957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6364E9C-08EE-4B1B-B3FC-D6D997F4EA38}"/>
              </a:ext>
            </a:extLst>
          </p:cNvPr>
          <p:cNvSpPr>
            <a:spLocks noGrp="1"/>
          </p:cNvSpPr>
          <p:nvPr>
            <p:ph type="dt" sz="half" idx="2"/>
          </p:nvPr>
        </p:nvSpPr>
        <p:spPr>
          <a:xfrm>
            <a:off x="838200" y="6324600"/>
            <a:ext cx="2743200" cy="365125"/>
          </a:xfrm>
          <a:prstGeom prst="rect">
            <a:avLst/>
          </a:prstGeom>
        </p:spPr>
        <p:txBody>
          <a:bodyPr vert="horz" lIns="91440" tIns="45720" rIns="91440" bIns="45720" rtlCol="0" anchor="ctr"/>
          <a:lstStyle>
            <a:lvl1pPr algn="l">
              <a:defRPr sz="900">
                <a:solidFill>
                  <a:schemeClr val="bg1">
                    <a:alpha val="60000"/>
                  </a:schemeClr>
                </a:solidFill>
                <a:latin typeface="+mn-lt"/>
              </a:defRPr>
            </a:lvl1pPr>
          </a:lstStyle>
          <a:p>
            <a:fld id="{57E0CF6C-748E-4B7A-BC8B-3011EF78ED13}" type="datetime1">
              <a:rPr lang="en-US" smtClean="0"/>
              <a:pPr/>
              <a:t>1/7/2025</a:t>
            </a:fld>
            <a:endParaRPr lang="en-US" dirty="0"/>
          </a:p>
        </p:txBody>
      </p:sp>
      <p:sp>
        <p:nvSpPr>
          <p:cNvPr id="5" name="Footer Placeholder 4">
            <a:extLst>
              <a:ext uri="{FF2B5EF4-FFF2-40B4-BE49-F238E27FC236}">
                <a16:creationId xmlns:a16="http://schemas.microsoft.com/office/drawing/2014/main" id="{BAB0A1F1-38FE-4C27-81E6-A43A54793FC3}"/>
              </a:ext>
            </a:extLst>
          </p:cNvPr>
          <p:cNvSpPr>
            <a:spLocks noGrp="1"/>
          </p:cNvSpPr>
          <p:nvPr>
            <p:ph type="ftr" sz="quarter" idx="3"/>
          </p:nvPr>
        </p:nvSpPr>
        <p:spPr>
          <a:xfrm>
            <a:off x="4038600" y="6324600"/>
            <a:ext cx="4114800" cy="365125"/>
          </a:xfrm>
          <a:prstGeom prst="rect">
            <a:avLst/>
          </a:prstGeom>
        </p:spPr>
        <p:txBody>
          <a:bodyPr vert="horz" lIns="91440" tIns="45720" rIns="91440" bIns="45720" rtlCol="0" anchor="ctr"/>
          <a:lstStyle>
            <a:lvl1pPr algn="ctr">
              <a:defRPr sz="900">
                <a:solidFill>
                  <a:schemeClr val="bg1">
                    <a:alpha val="60000"/>
                  </a:schemeClr>
                </a:solidFill>
                <a:latin typeface="+mn-lt"/>
              </a:defRPr>
            </a:lvl1pPr>
          </a:lstStyle>
          <a:p>
            <a:endParaRPr lang="en-US" dirty="0"/>
          </a:p>
        </p:txBody>
      </p:sp>
      <p:sp>
        <p:nvSpPr>
          <p:cNvPr id="6" name="Slide Number Placeholder 5">
            <a:extLst>
              <a:ext uri="{FF2B5EF4-FFF2-40B4-BE49-F238E27FC236}">
                <a16:creationId xmlns:a16="http://schemas.microsoft.com/office/drawing/2014/main" id="{5E26B39A-FFD8-42EF-ADC7-7DB3B302F8B2}"/>
              </a:ext>
            </a:extLst>
          </p:cNvPr>
          <p:cNvSpPr>
            <a:spLocks noGrp="1"/>
          </p:cNvSpPr>
          <p:nvPr>
            <p:ph type="sldNum" sz="quarter" idx="4"/>
          </p:nvPr>
        </p:nvSpPr>
        <p:spPr>
          <a:xfrm>
            <a:off x="8610600" y="6324600"/>
            <a:ext cx="2743200" cy="365125"/>
          </a:xfrm>
          <a:prstGeom prst="rect">
            <a:avLst/>
          </a:prstGeom>
        </p:spPr>
        <p:txBody>
          <a:bodyPr vert="horz" lIns="91440" tIns="45720" rIns="91440" bIns="45720" rtlCol="0" anchor="ctr"/>
          <a:lstStyle>
            <a:lvl1pPr algn="r">
              <a:defRPr sz="900">
                <a:solidFill>
                  <a:schemeClr val="bg1">
                    <a:alpha val="60000"/>
                  </a:schemeClr>
                </a:solidFill>
                <a:latin typeface="+mn-lt"/>
              </a:defRPr>
            </a:lvl1p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3286333030"/>
      </p:ext>
    </p:extLst>
  </p:cSld>
  <p:clrMap bg1="lt1" tx1="dk1" bg2="lt2" tx2="dk2" accent1="accent1" accent2="accent2" accent3="accent3" accent4="accent4" accent5="accent5" accent6="accent6" hlink="hlink" folHlink="folHlink"/>
  <p:sldLayoutIdLst>
    <p:sldLayoutId id="2147483840" r:id="rId1"/>
    <p:sldLayoutId id="2147483841" r:id="rId2"/>
    <p:sldLayoutId id="2147483842" r:id="rId3"/>
    <p:sldLayoutId id="2147483843" r:id="rId4"/>
    <p:sldLayoutId id="2147483844" r:id="rId5"/>
    <p:sldLayoutId id="2147483845" r:id="rId6"/>
    <p:sldLayoutId id="2147483846" r:id="rId7"/>
    <p:sldLayoutId id="2147483847" r:id="rId8"/>
    <p:sldLayoutId id="2147483848" r:id="rId9"/>
    <p:sldLayoutId id="2147483849" r:id="rId10"/>
    <p:sldLayoutId id="2147483850" r:id="rId11"/>
  </p:sldLayoutIdLst>
  <p:transition spd="slow">
    <p:push dir="u"/>
  </p:transition>
  <p:hf sldNum="0" hdr="0" ftr="0" dt="0"/>
  <p:txStyles>
    <p:titleStyle>
      <a:lvl1pPr algn="l" defTabSz="914400" rtl="0" eaLnBrk="1" latinLnBrk="0" hangingPunct="1">
        <a:lnSpc>
          <a:spcPct val="100000"/>
        </a:lnSpc>
        <a:spcBef>
          <a:spcPct val="0"/>
        </a:spcBef>
        <a:buNone/>
        <a:defRPr sz="4400" b="1" kern="1200">
          <a:solidFill>
            <a:schemeClr val="bg1"/>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1"/>
        </a:buClr>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110000"/>
        </a:lnSpc>
        <a:spcBef>
          <a:spcPts val="500"/>
        </a:spcBef>
        <a:buClr>
          <a:schemeClr val="accent1"/>
        </a:buClr>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110000"/>
        </a:lnSpc>
        <a:spcBef>
          <a:spcPts val="500"/>
        </a:spcBef>
        <a:buClr>
          <a:schemeClr val="accent1"/>
        </a:buClr>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1.xml"/><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11" name="Picture 10">
            <a:extLst>
              <a:ext uri="{FF2B5EF4-FFF2-40B4-BE49-F238E27FC236}">
                <a16:creationId xmlns:a16="http://schemas.microsoft.com/office/drawing/2014/main" id="{1CB7E8AE-A3AC-4BB7-A5C6-F00EC697B2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3" name="Rectangle 12">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5" name="Rectangle 14">
            <a:extLst>
              <a:ext uri="{FF2B5EF4-FFF2-40B4-BE49-F238E27FC236}">
                <a16:creationId xmlns:a16="http://schemas.microsoft.com/office/drawing/2014/main" id="{E8B2F707-EF35-4955-8439-F76145F3CD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7" name="Rectangle 16">
            <a:extLst>
              <a:ext uri="{FF2B5EF4-FFF2-40B4-BE49-F238E27FC236}">
                <a16:creationId xmlns:a16="http://schemas.microsoft.com/office/drawing/2014/main" id="{BB317211-3292-43D8-8824-C090DBADA4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5" y="0"/>
            <a:ext cx="12188951" cy="6858000"/>
          </a:xfrm>
          <a:prstGeom prst="rect">
            <a:avLst/>
          </a:prstGeom>
          <a:blipFill dpi="0" rotWithShape="1">
            <a:blip r:embed="rId3">
              <a:alphaModFix amt="15000"/>
              <a:lum bright="70000" contrast="-70000"/>
            </a:blip>
            <a:srcRect/>
            <a:tile tx="889000" ty="0" sx="100000" sy="100000" flip="xy" algn="t"/>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Colorful liquid art">
            <a:extLst>
              <a:ext uri="{FF2B5EF4-FFF2-40B4-BE49-F238E27FC236}">
                <a16:creationId xmlns:a16="http://schemas.microsoft.com/office/drawing/2014/main" id="{182803D8-2715-DEDE-1F71-B856C6F2B54C}"/>
              </a:ext>
            </a:extLst>
          </p:cNvPr>
          <p:cNvPicPr>
            <a:picLocks noChangeAspect="1"/>
          </p:cNvPicPr>
          <p:nvPr/>
        </p:nvPicPr>
        <p:blipFill>
          <a:blip r:embed="rId4">
            <a:alphaModFix amt="60000"/>
          </a:blip>
          <a:srcRect t="9706" r="-1" b="9932"/>
          <a:stretch/>
        </p:blipFill>
        <p:spPr>
          <a:xfrm>
            <a:off x="1524" y="688"/>
            <a:ext cx="12188952" cy="6856624"/>
          </a:xfrm>
          <a:prstGeom prst="rect">
            <a:avLst/>
          </a:prstGeom>
        </p:spPr>
      </p:pic>
      <p:sp>
        <p:nvSpPr>
          <p:cNvPr id="2" name="Title 1">
            <a:extLst>
              <a:ext uri="{FF2B5EF4-FFF2-40B4-BE49-F238E27FC236}">
                <a16:creationId xmlns:a16="http://schemas.microsoft.com/office/drawing/2014/main" id="{7D952A46-0E14-9AB8-93B9-59F2ECA57679}"/>
              </a:ext>
            </a:extLst>
          </p:cNvPr>
          <p:cNvSpPr>
            <a:spLocks noGrp="1"/>
          </p:cNvSpPr>
          <p:nvPr>
            <p:ph type="ctrTitle"/>
          </p:nvPr>
        </p:nvSpPr>
        <p:spPr>
          <a:xfrm>
            <a:off x="1198181" y="726066"/>
            <a:ext cx="4795282" cy="5018227"/>
          </a:xfrm>
        </p:spPr>
        <p:txBody>
          <a:bodyPr vert="horz" lIns="91440" tIns="45720" rIns="91440" bIns="45720" rtlCol="0" anchor="ctr">
            <a:normAutofit/>
          </a:bodyPr>
          <a:lstStyle/>
          <a:p>
            <a:pPr algn="l"/>
            <a:r>
              <a:rPr lang="en-US" dirty="0">
                <a:solidFill>
                  <a:srgbClr val="FFFFFF"/>
                </a:solidFill>
              </a:rPr>
              <a:t>RLC PARALLEL CIRCUIT</a:t>
            </a:r>
          </a:p>
        </p:txBody>
      </p:sp>
      <p:sp>
        <p:nvSpPr>
          <p:cNvPr id="3" name="Subtitle 2">
            <a:extLst>
              <a:ext uri="{FF2B5EF4-FFF2-40B4-BE49-F238E27FC236}">
                <a16:creationId xmlns:a16="http://schemas.microsoft.com/office/drawing/2014/main" id="{56C37E49-9F8B-E06F-0063-1769AEFFBE62}"/>
              </a:ext>
            </a:extLst>
          </p:cNvPr>
          <p:cNvSpPr>
            <a:spLocks noGrp="1"/>
          </p:cNvSpPr>
          <p:nvPr>
            <p:ph type="subTitle" idx="1"/>
          </p:nvPr>
        </p:nvSpPr>
        <p:spPr>
          <a:xfrm>
            <a:off x="6195372" y="726538"/>
            <a:ext cx="4977905" cy="5017076"/>
          </a:xfrm>
        </p:spPr>
        <p:txBody>
          <a:bodyPr vert="horz" lIns="91440" tIns="45720" rIns="91440" bIns="45720" rtlCol="0" anchor="ctr">
            <a:normAutofit/>
          </a:bodyPr>
          <a:lstStyle/>
          <a:p>
            <a:pPr indent="-228600" algn="l">
              <a:buFont typeface="Arial" panose="020B0604020202020204" pitchFamily="34" charset="0"/>
              <a:buChar char="•"/>
            </a:pPr>
            <a:r>
              <a:rPr lang="en-US" dirty="0">
                <a:solidFill>
                  <a:srgbClr val="FFFFFF"/>
                </a:solidFill>
              </a:rPr>
              <a:t>Student: Rusu Maria </a:t>
            </a:r>
            <a:r>
              <a:rPr lang="en-US" dirty="0" err="1">
                <a:solidFill>
                  <a:srgbClr val="FFFFFF"/>
                </a:solidFill>
              </a:rPr>
              <a:t>Mădălina</a:t>
            </a:r>
            <a:endParaRPr lang="en-US" dirty="0">
              <a:solidFill>
                <a:srgbClr val="FFFFFF"/>
              </a:solidFill>
            </a:endParaRPr>
          </a:p>
          <a:p>
            <a:pPr indent="-228600" algn="l">
              <a:buFont typeface="Arial" panose="020B0604020202020204" pitchFamily="34" charset="0"/>
              <a:buChar char="•"/>
            </a:pPr>
            <a:r>
              <a:rPr lang="en-US" dirty="0">
                <a:solidFill>
                  <a:srgbClr val="FFFFFF"/>
                </a:solidFill>
              </a:rPr>
              <a:t>Teacher: Mihaela </a:t>
            </a:r>
            <a:r>
              <a:rPr lang="en-US" dirty="0" err="1">
                <a:solidFill>
                  <a:srgbClr val="FFFFFF"/>
                </a:solidFill>
              </a:rPr>
              <a:t>Cîrlugea</a:t>
            </a:r>
            <a:endParaRPr lang="en-US" dirty="0">
              <a:solidFill>
                <a:srgbClr val="FFFFFF"/>
              </a:solidFill>
            </a:endParaRPr>
          </a:p>
          <a:p>
            <a:pPr indent="-228600" algn="l">
              <a:buFont typeface="Arial" panose="020B0604020202020204" pitchFamily="34" charset="0"/>
              <a:buChar char="•"/>
            </a:pPr>
            <a:r>
              <a:rPr lang="en-US">
                <a:solidFill>
                  <a:srgbClr val="FFFFFF"/>
                </a:solidFill>
              </a:rPr>
              <a:t>Group: 2022</a:t>
            </a:r>
            <a:r>
              <a:rPr lang="en-US" dirty="0">
                <a:solidFill>
                  <a:srgbClr val="FFFFFF"/>
                </a:solidFill>
              </a:rPr>
              <a:t>, ETTI - UTCN</a:t>
            </a:r>
          </a:p>
          <a:p>
            <a:pPr indent="-228600" algn="l">
              <a:buFont typeface="Arial" panose="020B0604020202020204" pitchFamily="34" charset="0"/>
              <a:buChar char="•"/>
            </a:pPr>
            <a:endParaRPr lang="en-US" sz="1800" dirty="0">
              <a:solidFill>
                <a:srgbClr val="FFFFFF"/>
              </a:solidFill>
            </a:endParaRPr>
          </a:p>
        </p:txBody>
      </p:sp>
    </p:spTree>
    <p:extLst>
      <p:ext uri="{BB962C8B-B14F-4D97-AF65-F5344CB8AC3E}">
        <p14:creationId xmlns:p14="http://schemas.microsoft.com/office/powerpoint/2010/main" val="1434032158"/>
      </p:ext>
    </p:extLst>
  </p:cSld>
  <p:clrMapOvr>
    <a:overrideClrMapping bg1="dk1" tx1="lt1" bg2="dk2" tx2="lt2" accent1="accent1" accent2="accent2" accent3="accent3" accent4="accent4" accent5="accent5" accent6="accent6" hlink="hlink" folHlink="folHlink"/>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9968E-A54D-BFBA-2D4B-73A475E06C34}"/>
              </a:ext>
            </a:extLst>
          </p:cNvPr>
          <p:cNvSpPr>
            <a:spLocks noGrp="1"/>
          </p:cNvSpPr>
          <p:nvPr>
            <p:ph type="title"/>
          </p:nvPr>
        </p:nvSpPr>
        <p:spPr>
          <a:xfrm>
            <a:off x="838200" y="1106191"/>
            <a:ext cx="10515600" cy="1413725"/>
          </a:xfrm>
        </p:spPr>
        <p:txBody>
          <a:bodyPr/>
          <a:lstStyle/>
          <a:p>
            <a:r>
              <a:rPr lang="en-US" dirty="0"/>
              <a:t>Content:</a:t>
            </a:r>
            <a:endParaRPr lang="ro-RO" dirty="0"/>
          </a:p>
        </p:txBody>
      </p:sp>
      <p:sp>
        <p:nvSpPr>
          <p:cNvPr id="3" name="Content Placeholder 2">
            <a:extLst>
              <a:ext uri="{FF2B5EF4-FFF2-40B4-BE49-F238E27FC236}">
                <a16:creationId xmlns:a16="http://schemas.microsoft.com/office/drawing/2014/main" id="{EC5246C1-B296-0F3F-279D-7D51BFE3D64D}"/>
              </a:ext>
            </a:extLst>
          </p:cNvPr>
          <p:cNvSpPr>
            <a:spLocks noGrp="1"/>
          </p:cNvSpPr>
          <p:nvPr>
            <p:ph idx="1"/>
          </p:nvPr>
        </p:nvSpPr>
        <p:spPr>
          <a:xfrm>
            <a:off x="838200" y="2519916"/>
            <a:ext cx="10515600" cy="3625297"/>
          </a:xfrm>
        </p:spPr>
        <p:txBody>
          <a:bodyPr>
            <a:normAutofit/>
          </a:bodyPr>
          <a:lstStyle/>
          <a:p>
            <a:r>
              <a:rPr lang="en-US" sz="3200" dirty="0"/>
              <a:t>Code overview</a:t>
            </a:r>
          </a:p>
          <a:p>
            <a:r>
              <a:rPr lang="en-US" sz="3200" dirty="0"/>
              <a:t>Theoretical aspects</a:t>
            </a:r>
          </a:p>
          <a:p>
            <a:r>
              <a:rPr lang="en-US" sz="3200" dirty="0"/>
              <a:t>Interface</a:t>
            </a:r>
          </a:p>
          <a:p>
            <a:r>
              <a:rPr lang="en-US" sz="3200" dirty="0"/>
              <a:t>Bibliography</a:t>
            </a:r>
          </a:p>
        </p:txBody>
      </p:sp>
    </p:spTree>
    <p:extLst>
      <p:ext uri="{BB962C8B-B14F-4D97-AF65-F5344CB8AC3E}">
        <p14:creationId xmlns:p14="http://schemas.microsoft.com/office/powerpoint/2010/main" val="1120144681"/>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9" name="Picture 8">
            <a:extLst>
              <a:ext uri="{FF2B5EF4-FFF2-40B4-BE49-F238E27FC236}">
                <a16:creationId xmlns:a16="http://schemas.microsoft.com/office/drawing/2014/main" id="{1CB7E8AE-A3AC-4BB7-A5C6-F00EC697B2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1" name="Rectangle 10">
            <a:extLst>
              <a:ext uri="{FF2B5EF4-FFF2-40B4-BE49-F238E27FC236}">
                <a16:creationId xmlns:a16="http://schemas.microsoft.com/office/drawing/2014/main" id="{2D924463-4DB7-437D-85B1-7EE5042DE5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3" name="Rectangle 12">
            <a:extLst>
              <a:ext uri="{FF2B5EF4-FFF2-40B4-BE49-F238E27FC236}">
                <a16:creationId xmlns:a16="http://schemas.microsoft.com/office/drawing/2014/main" id="{9F108545-2EA9-4B3E-915B-2959496080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2" name="Title 1">
            <a:extLst>
              <a:ext uri="{FF2B5EF4-FFF2-40B4-BE49-F238E27FC236}">
                <a16:creationId xmlns:a16="http://schemas.microsoft.com/office/drawing/2014/main" id="{6DFC86BF-27F8-AA03-C882-9E749D039D46}"/>
              </a:ext>
            </a:extLst>
          </p:cNvPr>
          <p:cNvSpPr>
            <a:spLocks noGrp="1"/>
          </p:cNvSpPr>
          <p:nvPr>
            <p:ph type="title"/>
          </p:nvPr>
        </p:nvSpPr>
        <p:spPr>
          <a:xfrm>
            <a:off x="4495799" y="744909"/>
            <a:ext cx="6858000" cy="3155419"/>
          </a:xfrm>
        </p:spPr>
        <p:txBody>
          <a:bodyPr vert="horz" lIns="91440" tIns="45720" rIns="91440" bIns="45720" rtlCol="0" anchor="b">
            <a:normAutofit/>
          </a:bodyPr>
          <a:lstStyle/>
          <a:p>
            <a:r>
              <a:rPr lang="en-US" sz="5200" dirty="0">
                <a:solidFill>
                  <a:schemeClr val="tx2"/>
                </a:solidFill>
              </a:rPr>
              <a:t>CODE OVERVIEW</a:t>
            </a:r>
          </a:p>
        </p:txBody>
      </p:sp>
      <p:sp>
        <p:nvSpPr>
          <p:cNvPr id="15" name="Rectangle 14">
            <a:extLst>
              <a:ext uri="{FF2B5EF4-FFF2-40B4-BE49-F238E27FC236}">
                <a16:creationId xmlns:a16="http://schemas.microsoft.com/office/drawing/2014/main" id="{392BFCFE-FD78-4EDF-BEFE-CC444DC5F3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578352"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7" name="Rectangle 16">
            <a:extLst>
              <a:ext uri="{FF2B5EF4-FFF2-40B4-BE49-F238E27FC236}">
                <a16:creationId xmlns:a16="http://schemas.microsoft.com/office/drawing/2014/main" id="{4572B5A9-5531-4FA5-8C90-295EFED8BF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7060" y="22493"/>
            <a:ext cx="3561292" cy="6830508"/>
          </a:xfrm>
          <a:prstGeom prst="rect">
            <a:avLst/>
          </a:prstGeom>
          <a:blipFill dpi="0" rotWithShape="1">
            <a:blip r:embed="rId3">
              <a:alphaModFix amt="40000"/>
              <a:duotone>
                <a:schemeClr val="accent1">
                  <a:shade val="45000"/>
                  <a:satMod val="135000"/>
                </a:schemeClr>
                <a:prstClr val="white"/>
              </a:duotone>
            </a:blip>
            <a:srcRect/>
            <a:tile tx="889000" ty="0" sx="100000" sy="100000" flip="xy" algn="t"/>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91000567"/>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4140D-8ACF-D608-ED96-F9D1775993A9}"/>
              </a:ext>
            </a:extLst>
          </p:cNvPr>
          <p:cNvSpPr>
            <a:spLocks noGrp="1"/>
          </p:cNvSpPr>
          <p:nvPr>
            <p:ph type="title"/>
          </p:nvPr>
        </p:nvSpPr>
        <p:spPr/>
        <p:txBody>
          <a:bodyPr/>
          <a:lstStyle/>
          <a:p>
            <a:r>
              <a:rPr lang="en-US" dirty="0" err="1"/>
              <a:t>MAIN.m</a:t>
            </a:r>
            <a:endParaRPr lang="ro-RO" dirty="0"/>
          </a:p>
        </p:txBody>
      </p:sp>
      <p:sp>
        <p:nvSpPr>
          <p:cNvPr id="3" name="Content Placeholder 2">
            <a:extLst>
              <a:ext uri="{FF2B5EF4-FFF2-40B4-BE49-F238E27FC236}">
                <a16:creationId xmlns:a16="http://schemas.microsoft.com/office/drawing/2014/main" id="{87A03249-E89F-8290-11AF-573153EC8BF4}"/>
              </a:ext>
            </a:extLst>
          </p:cNvPr>
          <p:cNvSpPr>
            <a:spLocks noGrp="1"/>
          </p:cNvSpPr>
          <p:nvPr>
            <p:ph idx="1"/>
          </p:nvPr>
        </p:nvSpPr>
        <p:spPr>
          <a:xfrm>
            <a:off x="6193970" y="1850066"/>
            <a:ext cx="5159829" cy="4295148"/>
          </a:xfrm>
        </p:spPr>
        <p:txBody>
          <a:bodyPr>
            <a:normAutofit fontScale="92500" lnSpcReduction="20000"/>
          </a:bodyPr>
          <a:lstStyle/>
          <a:p>
            <a:r>
              <a:rPr lang="en-US" i="1" dirty="0"/>
              <a:t>clear all – </a:t>
            </a:r>
            <a:r>
              <a:rPr lang="en-US" dirty="0"/>
              <a:t>clears all variables from workspace</a:t>
            </a:r>
          </a:p>
          <a:p>
            <a:r>
              <a:rPr lang="en-US" i="1" dirty="0"/>
              <a:t>close all – </a:t>
            </a:r>
            <a:r>
              <a:rPr lang="en-US" dirty="0"/>
              <a:t>closes all open figure windows</a:t>
            </a:r>
          </a:p>
          <a:p>
            <a:r>
              <a:rPr lang="en-US" i="1" dirty="0" err="1"/>
              <a:t>clc</a:t>
            </a:r>
            <a:r>
              <a:rPr lang="en-US" i="1" dirty="0"/>
              <a:t> – </a:t>
            </a:r>
            <a:r>
              <a:rPr lang="en-US" dirty="0"/>
              <a:t>clears command window</a:t>
            </a:r>
          </a:p>
          <a:p>
            <a:r>
              <a:rPr lang="en-US" i="1" dirty="0"/>
              <a:t>rest of the code </a:t>
            </a:r>
            <a:r>
              <a:rPr lang="en-US" i="1" dirty="0" err="1"/>
              <a:t>assignes</a:t>
            </a:r>
            <a:r>
              <a:rPr lang="en-US" i="1" dirty="0"/>
              <a:t> values to the parameters of the RLC circuit </a:t>
            </a:r>
          </a:p>
          <a:p>
            <a:r>
              <a:rPr lang="en-US" i="1" dirty="0"/>
              <a:t>last line of code calls the function “menu”</a:t>
            </a:r>
            <a:endParaRPr lang="ro-RO" i="1" dirty="0"/>
          </a:p>
        </p:txBody>
      </p:sp>
      <p:pic>
        <p:nvPicPr>
          <p:cNvPr id="5" name="Picture 4">
            <a:extLst>
              <a:ext uri="{FF2B5EF4-FFF2-40B4-BE49-F238E27FC236}">
                <a16:creationId xmlns:a16="http://schemas.microsoft.com/office/drawing/2014/main" id="{72FB2242-9270-59C6-20B4-53359A952C79}"/>
              </a:ext>
            </a:extLst>
          </p:cNvPr>
          <p:cNvPicPr>
            <a:picLocks noChangeAspect="1"/>
          </p:cNvPicPr>
          <p:nvPr/>
        </p:nvPicPr>
        <p:blipFill>
          <a:blip r:embed="rId2"/>
          <a:stretch>
            <a:fillRect/>
          </a:stretch>
        </p:blipFill>
        <p:spPr>
          <a:xfrm>
            <a:off x="1051305" y="1981200"/>
            <a:ext cx="4004100" cy="4048199"/>
          </a:xfrm>
          <a:prstGeom prst="rect">
            <a:avLst/>
          </a:prstGeom>
        </p:spPr>
      </p:pic>
    </p:spTree>
    <p:extLst>
      <p:ext uri="{BB962C8B-B14F-4D97-AF65-F5344CB8AC3E}">
        <p14:creationId xmlns:p14="http://schemas.microsoft.com/office/powerpoint/2010/main" val="808195994"/>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E5651-5118-C1AB-94EA-14B889A6C9B5}"/>
              </a:ext>
            </a:extLst>
          </p:cNvPr>
          <p:cNvSpPr>
            <a:spLocks noGrp="1"/>
          </p:cNvSpPr>
          <p:nvPr>
            <p:ph type="title"/>
          </p:nvPr>
        </p:nvSpPr>
        <p:spPr/>
        <p:txBody>
          <a:bodyPr/>
          <a:lstStyle/>
          <a:p>
            <a:r>
              <a:rPr lang="en-US" dirty="0" err="1"/>
              <a:t>menu.m</a:t>
            </a:r>
            <a:endParaRPr lang="ro-RO" dirty="0"/>
          </a:p>
        </p:txBody>
      </p:sp>
      <p:sp>
        <p:nvSpPr>
          <p:cNvPr id="3" name="Content Placeholder 2">
            <a:extLst>
              <a:ext uri="{FF2B5EF4-FFF2-40B4-BE49-F238E27FC236}">
                <a16:creationId xmlns:a16="http://schemas.microsoft.com/office/drawing/2014/main" id="{0F7AD41D-2019-0821-0FB2-C699D802FC4E}"/>
              </a:ext>
            </a:extLst>
          </p:cNvPr>
          <p:cNvSpPr>
            <a:spLocks noGrp="1"/>
          </p:cNvSpPr>
          <p:nvPr>
            <p:ph idx="1"/>
          </p:nvPr>
        </p:nvSpPr>
        <p:spPr>
          <a:xfrm>
            <a:off x="721242" y="1691323"/>
            <a:ext cx="4623644" cy="4195763"/>
          </a:xfrm>
        </p:spPr>
        <p:txBody>
          <a:bodyPr>
            <a:normAutofit lnSpcReduction="10000"/>
          </a:bodyPr>
          <a:lstStyle/>
          <a:p>
            <a:r>
              <a:rPr lang="en-US" i="1" dirty="0"/>
              <a:t>figure – </a:t>
            </a:r>
            <a:r>
              <a:rPr lang="en-US" dirty="0"/>
              <a:t>creates new figure window</a:t>
            </a:r>
          </a:p>
          <a:p>
            <a:r>
              <a:rPr lang="en-US" i="1" dirty="0" err="1"/>
              <a:t>uimenu</a:t>
            </a:r>
            <a:r>
              <a:rPr lang="en-US" i="1" dirty="0"/>
              <a:t> – </a:t>
            </a:r>
            <a:r>
              <a:rPr lang="en-US" dirty="0"/>
              <a:t>creates menu bar titled “Information”, that contains a submenu for the documentation (two formats), the bibliography and a close button.</a:t>
            </a:r>
            <a:endParaRPr lang="ro-RO" dirty="0"/>
          </a:p>
        </p:txBody>
      </p:sp>
      <p:pic>
        <p:nvPicPr>
          <p:cNvPr id="5" name="Picture 4">
            <a:extLst>
              <a:ext uri="{FF2B5EF4-FFF2-40B4-BE49-F238E27FC236}">
                <a16:creationId xmlns:a16="http://schemas.microsoft.com/office/drawing/2014/main" id="{EAE1932A-6EC1-1B03-E4C0-E02E8A042EF5}"/>
              </a:ext>
            </a:extLst>
          </p:cNvPr>
          <p:cNvPicPr>
            <a:picLocks noChangeAspect="1"/>
          </p:cNvPicPr>
          <p:nvPr/>
        </p:nvPicPr>
        <p:blipFill>
          <a:blip r:embed="rId2"/>
          <a:stretch>
            <a:fillRect/>
          </a:stretch>
        </p:blipFill>
        <p:spPr>
          <a:xfrm>
            <a:off x="5527121" y="1847723"/>
            <a:ext cx="6272993" cy="3882962"/>
          </a:xfrm>
          <a:prstGeom prst="rect">
            <a:avLst/>
          </a:prstGeom>
        </p:spPr>
      </p:pic>
    </p:spTree>
    <p:extLst>
      <p:ext uri="{BB962C8B-B14F-4D97-AF65-F5344CB8AC3E}">
        <p14:creationId xmlns:p14="http://schemas.microsoft.com/office/powerpoint/2010/main" val="828722846"/>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C1E985-B7C6-D6FF-B3C0-FE53E53ED2E7}"/>
              </a:ext>
            </a:extLst>
          </p:cNvPr>
          <p:cNvSpPr>
            <a:spLocks noGrp="1"/>
          </p:cNvSpPr>
          <p:nvPr>
            <p:ph idx="1"/>
          </p:nvPr>
        </p:nvSpPr>
        <p:spPr>
          <a:xfrm>
            <a:off x="5922334" y="1073888"/>
            <a:ext cx="5431465" cy="5071326"/>
          </a:xfrm>
        </p:spPr>
        <p:txBody>
          <a:bodyPr/>
          <a:lstStyle/>
          <a:p>
            <a:r>
              <a:rPr lang="en-US" dirty="0" err="1"/>
              <a:t>uicontrol</a:t>
            </a:r>
            <a:r>
              <a:rPr lang="en-US" dirty="0"/>
              <a:t> </a:t>
            </a:r>
            <a:r>
              <a:rPr lang="en-US" i="1" dirty="0"/>
              <a:t>(‘Style’ , ‘text’…) – </a:t>
            </a:r>
            <a:r>
              <a:rPr lang="en-US" dirty="0"/>
              <a:t>creates a text label that contains the title of the project</a:t>
            </a:r>
          </a:p>
          <a:p>
            <a:r>
              <a:rPr lang="en-US" i="1" dirty="0" err="1"/>
              <a:t>uicontrol</a:t>
            </a:r>
            <a:r>
              <a:rPr lang="en-US" i="1" dirty="0"/>
              <a:t> (‘Style’ , ‘pushbutton’…) – </a:t>
            </a:r>
            <a:r>
              <a:rPr lang="en-US" dirty="0"/>
              <a:t>creates a pushbutton titled “Open circuit” that directs the user to the RLC circuit through the callback of the function “parallel”</a:t>
            </a:r>
            <a:endParaRPr lang="en-US" i="1" dirty="0"/>
          </a:p>
        </p:txBody>
      </p:sp>
      <p:pic>
        <p:nvPicPr>
          <p:cNvPr id="5" name="Picture 4">
            <a:extLst>
              <a:ext uri="{FF2B5EF4-FFF2-40B4-BE49-F238E27FC236}">
                <a16:creationId xmlns:a16="http://schemas.microsoft.com/office/drawing/2014/main" id="{79B317E8-45FE-286D-1EE5-491005337584}"/>
              </a:ext>
            </a:extLst>
          </p:cNvPr>
          <p:cNvPicPr>
            <a:picLocks noChangeAspect="1"/>
          </p:cNvPicPr>
          <p:nvPr/>
        </p:nvPicPr>
        <p:blipFill>
          <a:blip r:embed="rId2"/>
          <a:stretch>
            <a:fillRect/>
          </a:stretch>
        </p:blipFill>
        <p:spPr>
          <a:xfrm>
            <a:off x="402265" y="1344659"/>
            <a:ext cx="5094997" cy="4529783"/>
          </a:xfrm>
          <a:prstGeom prst="rect">
            <a:avLst/>
          </a:prstGeom>
        </p:spPr>
      </p:pic>
    </p:spTree>
    <p:extLst>
      <p:ext uri="{BB962C8B-B14F-4D97-AF65-F5344CB8AC3E}">
        <p14:creationId xmlns:p14="http://schemas.microsoft.com/office/powerpoint/2010/main" val="978858503"/>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E69B35-E873-8CB7-7205-F6D8B7B8CA72}"/>
              </a:ext>
            </a:extLst>
          </p:cNvPr>
          <p:cNvSpPr>
            <a:spLocks noGrp="1"/>
          </p:cNvSpPr>
          <p:nvPr>
            <p:ph idx="1"/>
          </p:nvPr>
        </p:nvSpPr>
        <p:spPr>
          <a:xfrm>
            <a:off x="838200" y="1786270"/>
            <a:ext cx="5541335" cy="4358943"/>
          </a:xfrm>
        </p:spPr>
        <p:txBody>
          <a:bodyPr>
            <a:normAutofit fontScale="92500"/>
          </a:bodyPr>
          <a:lstStyle/>
          <a:p>
            <a:r>
              <a:rPr lang="en-US" i="1" dirty="0" err="1"/>
              <a:t>uicontrol</a:t>
            </a:r>
            <a:r>
              <a:rPr lang="en-US" i="1" dirty="0"/>
              <a:t> (‘Style’ , ‘pushbutton’…) – </a:t>
            </a:r>
            <a:r>
              <a:rPr lang="en-US" dirty="0"/>
              <a:t>creates a pushbutton titled “Open PDF Documentation” that directs the user to the documentation of the project</a:t>
            </a:r>
          </a:p>
          <a:p>
            <a:r>
              <a:rPr lang="en-US" i="1" dirty="0" err="1"/>
              <a:t>uicontrol</a:t>
            </a:r>
            <a:r>
              <a:rPr lang="en-US" i="1" dirty="0"/>
              <a:t> (‘Style’ , ‘pushbutton’…) – </a:t>
            </a:r>
            <a:r>
              <a:rPr lang="en-US" dirty="0"/>
              <a:t>creates a pushbutton that closes the program (through ‘</a:t>
            </a:r>
            <a:r>
              <a:rPr lang="en-US" dirty="0" err="1"/>
              <a:t>Callback’,’close</a:t>
            </a:r>
            <a:r>
              <a:rPr lang="en-US" dirty="0"/>
              <a:t>’)</a:t>
            </a:r>
            <a:endParaRPr lang="ro-RO" dirty="0"/>
          </a:p>
        </p:txBody>
      </p:sp>
      <p:pic>
        <p:nvPicPr>
          <p:cNvPr id="6" name="Picture 5">
            <a:extLst>
              <a:ext uri="{FF2B5EF4-FFF2-40B4-BE49-F238E27FC236}">
                <a16:creationId xmlns:a16="http://schemas.microsoft.com/office/drawing/2014/main" id="{9FA7A821-1DD9-734A-7AB1-E4D6B726533C}"/>
              </a:ext>
            </a:extLst>
          </p:cNvPr>
          <p:cNvPicPr>
            <a:picLocks noChangeAspect="1"/>
          </p:cNvPicPr>
          <p:nvPr/>
        </p:nvPicPr>
        <p:blipFill>
          <a:blip r:embed="rId2"/>
          <a:stretch>
            <a:fillRect/>
          </a:stretch>
        </p:blipFill>
        <p:spPr>
          <a:xfrm>
            <a:off x="6680469" y="1656053"/>
            <a:ext cx="4673331" cy="4489160"/>
          </a:xfrm>
          <a:prstGeom prst="rect">
            <a:avLst/>
          </a:prstGeom>
        </p:spPr>
      </p:pic>
    </p:spTree>
    <p:extLst>
      <p:ext uri="{BB962C8B-B14F-4D97-AF65-F5344CB8AC3E}">
        <p14:creationId xmlns:p14="http://schemas.microsoft.com/office/powerpoint/2010/main" val="2576817303"/>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A86EBE-5954-D30A-3940-31244A069A8C}"/>
              </a:ext>
            </a:extLst>
          </p:cNvPr>
          <p:cNvSpPr>
            <a:spLocks noGrp="1"/>
          </p:cNvSpPr>
          <p:nvPr>
            <p:ph idx="1"/>
          </p:nvPr>
        </p:nvSpPr>
        <p:spPr>
          <a:xfrm>
            <a:off x="6212542" y="1843124"/>
            <a:ext cx="5226318" cy="4195763"/>
          </a:xfrm>
        </p:spPr>
        <p:txBody>
          <a:bodyPr>
            <a:normAutofit fontScale="92500" lnSpcReduction="10000"/>
          </a:bodyPr>
          <a:lstStyle/>
          <a:p>
            <a:r>
              <a:rPr lang="en-US" dirty="0" err="1"/>
              <a:t>uicontrol</a:t>
            </a:r>
            <a:r>
              <a:rPr lang="en-US" dirty="0"/>
              <a:t> </a:t>
            </a:r>
            <a:r>
              <a:rPr lang="en-US" i="1" dirty="0"/>
              <a:t>(‘Style’ , ‘text’…) – </a:t>
            </a:r>
            <a:r>
              <a:rPr lang="en-US" dirty="0"/>
              <a:t>creates a text label that contains data about the student</a:t>
            </a:r>
          </a:p>
          <a:p>
            <a:r>
              <a:rPr lang="en-US" i="1" dirty="0"/>
              <a:t>check audio file existence</a:t>
            </a:r>
          </a:p>
          <a:p>
            <a:r>
              <a:rPr lang="en-US" i="1" dirty="0"/>
              <a:t>program uses a persistent variable to ensure the audio is only loaded and the audio player object is only created once</a:t>
            </a:r>
          </a:p>
          <a:p>
            <a:endParaRPr lang="ro-RO" i="1" dirty="0"/>
          </a:p>
        </p:txBody>
      </p:sp>
      <p:pic>
        <p:nvPicPr>
          <p:cNvPr id="5" name="Picture 4">
            <a:extLst>
              <a:ext uri="{FF2B5EF4-FFF2-40B4-BE49-F238E27FC236}">
                <a16:creationId xmlns:a16="http://schemas.microsoft.com/office/drawing/2014/main" id="{1D11C373-390D-304E-268D-2487237C880B}"/>
              </a:ext>
            </a:extLst>
          </p:cNvPr>
          <p:cNvPicPr>
            <a:picLocks noChangeAspect="1"/>
          </p:cNvPicPr>
          <p:nvPr/>
        </p:nvPicPr>
        <p:blipFill>
          <a:blip r:embed="rId2"/>
          <a:stretch>
            <a:fillRect/>
          </a:stretch>
        </p:blipFill>
        <p:spPr>
          <a:xfrm>
            <a:off x="413081" y="1843124"/>
            <a:ext cx="5446551" cy="4195763"/>
          </a:xfrm>
          <a:prstGeom prst="rect">
            <a:avLst/>
          </a:prstGeom>
        </p:spPr>
      </p:pic>
    </p:spTree>
    <p:extLst>
      <p:ext uri="{BB962C8B-B14F-4D97-AF65-F5344CB8AC3E}">
        <p14:creationId xmlns:p14="http://schemas.microsoft.com/office/powerpoint/2010/main" val="1570450129"/>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5D597D-4970-7980-670D-737843809D0C}"/>
              </a:ext>
            </a:extLst>
          </p:cNvPr>
          <p:cNvSpPr>
            <a:spLocks noGrp="1"/>
          </p:cNvSpPr>
          <p:nvPr>
            <p:ph idx="1"/>
          </p:nvPr>
        </p:nvSpPr>
        <p:spPr>
          <a:xfrm>
            <a:off x="838200" y="1949450"/>
            <a:ext cx="5257800" cy="4195763"/>
          </a:xfrm>
        </p:spPr>
        <p:txBody>
          <a:bodyPr/>
          <a:lstStyle/>
          <a:p>
            <a:r>
              <a:rPr lang="en-US" dirty="0"/>
              <a:t> two pushbuttons titled “Music, please!” and “ Stop music” that either start or stop the music through callbacks to two different functions (@playmusic / @stopmusic)</a:t>
            </a:r>
            <a:endParaRPr lang="ro-RO" dirty="0"/>
          </a:p>
        </p:txBody>
      </p:sp>
      <p:pic>
        <p:nvPicPr>
          <p:cNvPr id="5" name="Picture 4">
            <a:extLst>
              <a:ext uri="{FF2B5EF4-FFF2-40B4-BE49-F238E27FC236}">
                <a16:creationId xmlns:a16="http://schemas.microsoft.com/office/drawing/2014/main" id="{B1F80CF9-B2EB-C834-77E6-49F45BF4AC0B}"/>
              </a:ext>
            </a:extLst>
          </p:cNvPr>
          <p:cNvPicPr>
            <a:picLocks noChangeAspect="1"/>
          </p:cNvPicPr>
          <p:nvPr/>
        </p:nvPicPr>
        <p:blipFill>
          <a:blip r:embed="rId2"/>
          <a:stretch>
            <a:fillRect/>
          </a:stretch>
        </p:blipFill>
        <p:spPr>
          <a:xfrm>
            <a:off x="6570629" y="1949449"/>
            <a:ext cx="5044711" cy="4195763"/>
          </a:xfrm>
          <a:prstGeom prst="rect">
            <a:avLst/>
          </a:prstGeom>
        </p:spPr>
      </p:pic>
    </p:spTree>
    <p:extLst>
      <p:ext uri="{BB962C8B-B14F-4D97-AF65-F5344CB8AC3E}">
        <p14:creationId xmlns:p14="http://schemas.microsoft.com/office/powerpoint/2010/main" val="1618054577"/>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9F7E91-0207-AA31-300C-7C01D457CDB3}"/>
              </a:ext>
            </a:extLst>
          </p:cNvPr>
          <p:cNvSpPr>
            <a:spLocks noGrp="1"/>
          </p:cNvSpPr>
          <p:nvPr>
            <p:ph idx="1"/>
          </p:nvPr>
        </p:nvSpPr>
        <p:spPr>
          <a:xfrm>
            <a:off x="6323654" y="1961243"/>
            <a:ext cx="5378302" cy="4195763"/>
          </a:xfrm>
        </p:spPr>
        <p:txBody>
          <a:bodyPr/>
          <a:lstStyle/>
          <a:p>
            <a:r>
              <a:rPr lang="en-US" i="1" dirty="0"/>
              <a:t>function </a:t>
            </a:r>
            <a:r>
              <a:rPr lang="en-US" i="1" dirty="0" err="1"/>
              <a:t>playmusic</a:t>
            </a:r>
            <a:r>
              <a:rPr lang="en-US" i="1" dirty="0"/>
              <a:t> </a:t>
            </a:r>
            <a:r>
              <a:rPr lang="en-US" dirty="0"/>
              <a:t>– plays music and displays a message (depending if the audio file is already playing or not)</a:t>
            </a:r>
          </a:p>
          <a:p>
            <a:r>
              <a:rPr lang="en-US" i="1" dirty="0"/>
              <a:t>Function </a:t>
            </a:r>
            <a:r>
              <a:rPr lang="en-US" i="1" dirty="0" err="1"/>
              <a:t>stopmusic</a:t>
            </a:r>
            <a:r>
              <a:rPr lang="en-US" i="1" dirty="0"/>
              <a:t> – </a:t>
            </a:r>
            <a:r>
              <a:rPr lang="en-US" dirty="0"/>
              <a:t>stops music and displays a message (depending if the audio file is already playing or not)</a:t>
            </a:r>
          </a:p>
          <a:p>
            <a:endParaRPr lang="ro-RO" i="1" dirty="0"/>
          </a:p>
        </p:txBody>
      </p:sp>
      <p:pic>
        <p:nvPicPr>
          <p:cNvPr id="5" name="Picture 4">
            <a:extLst>
              <a:ext uri="{FF2B5EF4-FFF2-40B4-BE49-F238E27FC236}">
                <a16:creationId xmlns:a16="http://schemas.microsoft.com/office/drawing/2014/main" id="{C55378DC-13F7-357A-F1D7-3411A7D04D7D}"/>
              </a:ext>
            </a:extLst>
          </p:cNvPr>
          <p:cNvPicPr>
            <a:picLocks noChangeAspect="1"/>
          </p:cNvPicPr>
          <p:nvPr/>
        </p:nvPicPr>
        <p:blipFill>
          <a:blip r:embed="rId2"/>
          <a:stretch>
            <a:fillRect/>
          </a:stretch>
        </p:blipFill>
        <p:spPr>
          <a:xfrm>
            <a:off x="415846" y="1961242"/>
            <a:ext cx="5680154" cy="4195763"/>
          </a:xfrm>
          <a:prstGeom prst="rect">
            <a:avLst/>
          </a:prstGeom>
        </p:spPr>
      </p:pic>
    </p:spTree>
    <p:extLst>
      <p:ext uri="{BB962C8B-B14F-4D97-AF65-F5344CB8AC3E}">
        <p14:creationId xmlns:p14="http://schemas.microsoft.com/office/powerpoint/2010/main" val="861946856"/>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A859B-05DB-B384-DAA8-BEC4BC7555FE}"/>
              </a:ext>
            </a:extLst>
          </p:cNvPr>
          <p:cNvSpPr>
            <a:spLocks noGrp="1"/>
          </p:cNvSpPr>
          <p:nvPr>
            <p:ph type="title"/>
          </p:nvPr>
        </p:nvSpPr>
        <p:spPr/>
        <p:txBody>
          <a:bodyPr/>
          <a:lstStyle/>
          <a:p>
            <a:r>
              <a:rPr lang="en-US" dirty="0" err="1"/>
              <a:t>parallel.m</a:t>
            </a:r>
            <a:endParaRPr lang="ro-RO" dirty="0"/>
          </a:p>
        </p:txBody>
      </p:sp>
      <p:sp>
        <p:nvSpPr>
          <p:cNvPr id="3" name="Content Placeholder 2">
            <a:extLst>
              <a:ext uri="{FF2B5EF4-FFF2-40B4-BE49-F238E27FC236}">
                <a16:creationId xmlns:a16="http://schemas.microsoft.com/office/drawing/2014/main" id="{F5F8E7A2-05D7-F03D-1FAA-ABCEECBB6A2B}"/>
              </a:ext>
            </a:extLst>
          </p:cNvPr>
          <p:cNvSpPr>
            <a:spLocks noGrp="1"/>
          </p:cNvSpPr>
          <p:nvPr>
            <p:ph idx="1"/>
          </p:nvPr>
        </p:nvSpPr>
        <p:spPr>
          <a:xfrm>
            <a:off x="838200" y="1691324"/>
            <a:ext cx="4789714" cy="4800916"/>
          </a:xfrm>
        </p:spPr>
        <p:txBody>
          <a:bodyPr>
            <a:normAutofit lnSpcReduction="10000"/>
          </a:bodyPr>
          <a:lstStyle/>
          <a:p>
            <a:r>
              <a:rPr lang="en-US" i="1" dirty="0"/>
              <a:t>figure – </a:t>
            </a:r>
            <a:r>
              <a:rPr lang="en-US" dirty="0"/>
              <a:t>creates new figure window</a:t>
            </a:r>
          </a:p>
          <a:p>
            <a:r>
              <a:rPr lang="en-US" i="1" dirty="0" err="1"/>
              <a:t>uimenu</a:t>
            </a:r>
            <a:r>
              <a:rPr lang="en-US" i="1" dirty="0"/>
              <a:t> </a:t>
            </a:r>
            <a:r>
              <a:rPr lang="en-US" dirty="0"/>
              <a:t>– same menu bar as before, so it can be accessed from both figures</a:t>
            </a:r>
          </a:p>
          <a:p>
            <a:r>
              <a:rPr lang="en-US" dirty="0" err="1"/>
              <a:t>uicontrol</a:t>
            </a:r>
            <a:r>
              <a:rPr lang="en-US" dirty="0"/>
              <a:t> </a:t>
            </a:r>
            <a:r>
              <a:rPr lang="en-US" i="1" dirty="0"/>
              <a:t>(‘Style’ , ‘text’…) – </a:t>
            </a:r>
            <a:r>
              <a:rPr lang="en-US" dirty="0"/>
              <a:t>creates a text label that contains the title of the project</a:t>
            </a:r>
          </a:p>
          <a:p>
            <a:endParaRPr lang="ro-RO" i="1" dirty="0"/>
          </a:p>
        </p:txBody>
      </p:sp>
      <p:pic>
        <p:nvPicPr>
          <p:cNvPr id="5" name="Picture 4">
            <a:extLst>
              <a:ext uri="{FF2B5EF4-FFF2-40B4-BE49-F238E27FC236}">
                <a16:creationId xmlns:a16="http://schemas.microsoft.com/office/drawing/2014/main" id="{A7D67D22-2DEB-1283-1001-41C14C1A32C6}"/>
              </a:ext>
            </a:extLst>
          </p:cNvPr>
          <p:cNvPicPr>
            <a:picLocks noChangeAspect="1"/>
          </p:cNvPicPr>
          <p:nvPr/>
        </p:nvPicPr>
        <p:blipFill>
          <a:blip r:embed="rId2"/>
          <a:stretch>
            <a:fillRect/>
          </a:stretch>
        </p:blipFill>
        <p:spPr>
          <a:xfrm>
            <a:off x="5845629" y="1926320"/>
            <a:ext cx="5835950" cy="4330923"/>
          </a:xfrm>
          <a:prstGeom prst="rect">
            <a:avLst/>
          </a:prstGeom>
        </p:spPr>
      </p:pic>
    </p:spTree>
    <p:extLst>
      <p:ext uri="{BB962C8B-B14F-4D97-AF65-F5344CB8AC3E}">
        <p14:creationId xmlns:p14="http://schemas.microsoft.com/office/powerpoint/2010/main" val="2682565336"/>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A8C548-0BDB-B686-E379-2CA61CCA61B0}"/>
              </a:ext>
            </a:extLst>
          </p:cNvPr>
          <p:cNvSpPr>
            <a:spLocks noGrp="1"/>
          </p:cNvSpPr>
          <p:nvPr>
            <p:ph idx="1"/>
          </p:nvPr>
        </p:nvSpPr>
        <p:spPr>
          <a:xfrm>
            <a:off x="5784111" y="975933"/>
            <a:ext cx="5346405" cy="5103222"/>
          </a:xfrm>
        </p:spPr>
        <p:txBody>
          <a:bodyPr/>
          <a:lstStyle/>
          <a:p>
            <a:r>
              <a:rPr lang="en-US" i="1" dirty="0" err="1"/>
              <a:t>uibuttongroup</a:t>
            </a:r>
            <a:r>
              <a:rPr lang="en-US" i="1" dirty="0"/>
              <a:t> – </a:t>
            </a:r>
            <a:r>
              <a:rPr lang="en-US" dirty="0" err="1"/>
              <a:t>fuction</a:t>
            </a:r>
            <a:r>
              <a:rPr lang="en-US" dirty="0"/>
              <a:t> used to group related components, in this case text fields, under the parent name “BOX” </a:t>
            </a:r>
          </a:p>
          <a:p>
            <a:r>
              <a:rPr lang="en-US" i="1" dirty="0"/>
              <a:t>Next, for each of the elements of the group, R, L, C and E, we defined text fields that cannot be modified and we assigned them to the group using: ‘Parent’ , ‘BOX’.</a:t>
            </a:r>
            <a:endParaRPr lang="ro-RO" i="1" dirty="0"/>
          </a:p>
        </p:txBody>
      </p:sp>
      <p:pic>
        <p:nvPicPr>
          <p:cNvPr id="5" name="Picture 4">
            <a:extLst>
              <a:ext uri="{FF2B5EF4-FFF2-40B4-BE49-F238E27FC236}">
                <a16:creationId xmlns:a16="http://schemas.microsoft.com/office/drawing/2014/main" id="{6E2F39BF-B9D3-F88F-C56D-D9A5E04C144E}"/>
              </a:ext>
            </a:extLst>
          </p:cNvPr>
          <p:cNvPicPr>
            <a:picLocks noChangeAspect="1"/>
          </p:cNvPicPr>
          <p:nvPr/>
        </p:nvPicPr>
        <p:blipFill>
          <a:blip r:embed="rId2"/>
          <a:stretch>
            <a:fillRect/>
          </a:stretch>
        </p:blipFill>
        <p:spPr>
          <a:xfrm>
            <a:off x="838200" y="757581"/>
            <a:ext cx="4330923" cy="4349974"/>
          </a:xfrm>
          <a:prstGeom prst="rect">
            <a:avLst/>
          </a:prstGeom>
        </p:spPr>
      </p:pic>
      <p:pic>
        <p:nvPicPr>
          <p:cNvPr id="7" name="Picture 6">
            <a:extLst>
              <a:ext uri="{FF2B5EF4-FFF2-40B4-BE49-F238E27FC236}">
                <a16:creationId xmlns:a16="http://schemas.microsoft.com/office/drawing/2014/main" id="{9445439F-62CF-CC66-465F-5AF980AA417F}"/>
              </a:ext>
            </a:extLst>
          </p:cNvPr>
          <p:cNvPicPr>
            <a:picLocks noChangeAspect="1"/>
          </p:cNvPicPr>
          <p:nvPr/>
        </p:nvPicPr>
        <p:blipFill>
          <a:blip r:embed="rId3"/>
          <a:stretch>
            <a:fillRect/>
          </a:stretch>
        </p:blipFill>
        <p:spPr>
          <a:xfrm>
            <a:off x="838200" y="5107555"/>
            <a:ext cx="4330923" cy="971600"/>
          </a:xfrm>
          <a:prstGeom prst="rect">
            <a:avLst/>
          </a:prstGeom>
        </p:spPr>
      </p:pic>
    </p:spTree>
    <p:extLst>
      <p:ext uri="{BB962C8B-B14F-4D97-AF65-F5344CB8AC3E}">
        <p14:creationId xmlns:p14="http://schemas.microsoft.com/office/powerpoint/2010/main" val="3083445781"/>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6220FB-CC9F-B349-61E4-BBB04CF883F5}"/>
              </a:ext>
            </a:extLst>
          </p:cNvPr>
          <p:cNvSpPr>
            <a:spLocks noGrp="1"/>
          </p:cNvSpPr>
          <p:nvPr>
            <p:ph idx="1"/>
          </p:nvPr>
        </p:nvSpPr>
        <p:spPr>
          <a:xfrm>
            <a:off x="699977" y="1914503"/>
            <a:ext cx="5257800" cy="4195763"/>
          </a:xfrm>
        </p:spPr>
        <p:txBody>
          <a:bodyPr>
            <a:normAutofit fontScale="92500" lnSpcReduction="10000"/>
          </a:bodyPr>
          <a:lstStyle/>
          <a:p>
            <a:r>
              <a:rPr lang="en-US" i="1" dirty="0" err="1"/>
              <a:t>uibuttongroup</a:t>
            </a:r>
            <a:r>
              <a:rPr lang="en-US" i="1" dirty="0"/>
              <a:t> – </a:t>
            </a:r>
            <a:r>
              <a:rPr lang="en-US" dirty="0" err="1"/>
              <a:t>fuction</a:t>
            </a:r>
            <a:r>
              <a:rPr lang="en-US" dirty="0"/>
              <a:t> used to group related components, in this case only one text field for the soul purpose of having a good page layout, under the parent name “BOX2” </a:t>
            </a:r>
          </a:p>
          <a:p>
            <a:r>
              <a:rPr lang="en-US" i="1" dirty="0"/>
              <a:t>Text field </a:t>
            </a:r>
            <a:r>
              <a:rPr lang="en-US" i="1" dirty="0" err="1"/>
              <a:t>freq</a:t>
            </a:r>
            <a:r>
              <a:rPr lang="en-US" i="1" dirty="0"/>
              <a:t> (for frequency) has been defined and assigned to the group using: ‘Parent’ , ‘BOX2’.</a:t>
            </a:r>
          </a:p>
          <a:p>
            <a:endParaRPr lang="ro-RO" dirty="0"/>
          </a:p>
        </p:txBody>
      </p:sp>
      <p:pic>
        <p:nvPicPr>
          <p:cNvPr id="5" name="Picture 4">
            <a:extLst>
              <a:ext uri="{FF2B5EF4-FFF2-40B4-BE49-F238E27FC236}">
                <a16:creationId xmlns:a16="http://schemas.microsoft.com/office/drawing/2014/main" id="{495D03C6-6366-99D9-C15F-3D2A82F27F48}"/>
              </a:ext>
            </a:extLst>
          </p:cNvPr>
          <p:cNvPicPr>
            <a:picLocks noChangeAspect="1"/>
          </p:cNvPicPr>
          <p:nvPr/>
        </p:nvPicPr>
        <p:blipFill>
          <a:blip r:embed="rId2"/>
          <a:stretch>
            <a:fillRect/>
          </a:stretch>
        </p:blipFill>
        <p:spPr>
          <a:xfrm>
            <a:off x="6759595" y="1914503"/>
            <a:ext cx="4398262" cy="4230710"/>
          </a:xfrm>
          <a:prstGeom prst="rect">
            <a:avLst/>
          </a:prstGeom>
        </p:spPr>
      </p:pic>
    </p:spTree>
    <p:extLst>
      <p:ext uri="{BB962C8B-B14F-4D97-AF65-F5344CB8AC3E}">
        <p14:creationId xmlns:p14="http://schemas.microsoft.com/office/powerpoint/2010/main" val="959757274"/>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6553A5-B95A-9FF5-32D4-1AA5CC86237C}"/>
              </a:ext>
            </a:extLst>
          </p:cNvPr>
          <p:cNvSpPr>
            <a:spLocks noGrp="1"/>
          </p:cNvSpPr>
          <p:nvPr>
            <p:ph idx="1"/>
          </p:nvPr>
        </p:nvSpPr>
        <p:spPr>
          <a:xfrm>
            <a:off x="6934199" y="1170442"/>
            <a:ext cx="4855029" cy="5040085"/>
          </a:xfrm>
        </p:spPr>
        <p:txBody>
          <a:bodyPr>
            <a:normAutofit fontScale="92500"/>
          </a:bodyPr>
          <a:lstStyle/>
          <a:p>
            <a:r>
              <a:rPr lang="en-US" i="1" dirty="0" err="1"/>
              <a:t>uicontrol</a:t>
            </a:r>
            <a:r>
              <a:rPr lang="en-US" dirty="0"/>
              <a:t> </a:t>
            </a:r>
            <a:r>
              <a:rPr lang="en-US" i="1" dirty="0"/>
              <a:t>(‘Style’ , ‘edit’…) – </a:t>
            </a:r>
            <a:r>
              <a:rPr lang="en-US" dirty="0"/>
              <a:t>allows us to create editable text field for each element of both groups (</a:t>
            </a:r>
            <a:r>
              <a:rPr lang="en-US" dirty="0" err="1"/>
              <a:t>R,L,C,E,f</a:t>
            </a:r>
            <a:r>
              <a:rPr lang="en-US" dirty="0"/>
              <a:t>).</a:t>
            </a:r>
          </a:p>
          <a:p>
            <a:r>
              <a:rPr lang="en-US" i="1" dirty="0"/>
              <a:t>The callback: input is converted into a number and then stored into a variable. Then, the function “</a:t>
            </a:r>
            <a:r>
              <a:rPr lang="en-US" i="1" dirty="0" err="1"/>
              <a:t>showgraph</a:t>
            </a:r>
            <a:r>
              <a:rPr lang="en-US" i="1" dirty="0"/>
              <a:t>” is called which helps with visualizing the graph with the new values.</a:t>
            </a:r>
            <a:endParaRPr lang="ro-RO" i="1" dirty="0"/>
          </a:p>
        </p:txBody>
      </p:sp>
      <p:pic>
        <p:nvPicPr>
          <p:cNvPr id="5" name="Picture 4">
            <a:extLst>
              <a:ext uri="{FF2B5EF4-FFF2-40B4-BE49-F238E27FC236}">
                <a16:creationId xmlns:a16="http://schemas.microsoft.com/office/drawing/2014/main" id="{9ACE7257-3F93-0341-8132-9353E02E1110}"/>
              </a:ext>
            </a:extLst>
          </p:cNvPr>
          <p:cNvPicPr>
            <a:picLocks noChangeAspect="1"/>
          </p:cNvPicPr>
          <p:nvPr/>
        </p:nvPicPr>
        <p:blipFill>
          <a:blip r:embed="rId2"/>
          <a:stretch>
            <a:fillRect/>
          </a:stretch>
        </p:blipFill>
        <p:spPr>
          <a:xfrm>
            <a:off x="253758" y="1949450"/>
            <a:ext cx="6501879" cy="4195763"/>
          </a:xfrm>
          <a:prstGeom prst="rect">
            <a:avLst/>
          </a:prstGeom>
        </p:spPr>
      </p:pic>
    </p:spTree>
    <p:extLst>
      <p:ext uri="{BB962C8B-B14F-4D97-AF65-F5344CB8AC3E}">
        <p14:creationId xmlns:p14="http://schemas.microsoft.com/office/powerpoint/2010/main" val="1378583484"/>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400FDD-9724-FB98-5543-B8062EF5E9B9}"/>
              </a:ext>
            </a:extLst>
          </p:cNvPr>
          <p:cNvSpPr>
            <a:spLocks noGrp="1"/>
          </p:cNvSpPr>
          <p:nvPr>
            <p:ph idx="1"/>
          </p:nvPr>
        </p:nvSpPr>
        <p:spPr>
          <a:xfrm>
            <a:off x="738962" y="4178595"/>
            <a:ext cx="10714075" cy="2296886"/>
          </a:xfrm>
        </p:spPr>
        <p:txBody>
          <a:bodyPr>
            <a:normAutofit fontScale="92500" lnSpcReduction="10000"/>
          </a:bodyPr>
          <a:lstStyle/>
          <a:p>
            <a:r>
              <a:rPr lang="en-US" i="1" dirty="0" err="1"/>
              <a:t>uicontrol</a:t>
            </a:r>
            <a:r>
              <a:rPr lang="en-US" dirty="0"/>
              <a:t> </a:t>
            </a:r>
            <a:r>
              <a:rPr lang="en-US" i="1" dirty="0"/>
              <a:t>(‘Style’ , ‘slide’…) – </a:t>
            </a:r>
            <a:r>
              <a:rPr lang="en-US" dirty="0"/>
              <a:t>creates a slider between a minimum value (0) and a maximum value(10), with a step of 1. </a:t>
            </a:r>
            <a:r>
              <a:rPr lang="en-US" i="1" dirty="0"/>
              <a:t>Callback: the retrieved value is rounded to the next integer on the slider. The result can be visualized on the graph by calling the function “</a:t>
            </a:r>
            <a:r>
              <a:rPr lang="en-US" i="1" dirty="0" err="1"/>
              <a:t>showgraph</a:t>
            </a:r>
            <a:r>
              <a:rPr lang="en-US" i="1" dirty="0"/>
              <a:t>”.</a:t>
            </a:r>
          </a:p>
          <a:p>
            <a:r>
              <a:rPr lang="en-US" i="1" dirty="0"/>
              <a:t>Then we create a text field for the slider.</a:t>
            </a:r>
          </a:p>
          <a:p>
            <a:endParaRPr lang="ro-RO" i="1" dirty="0"/>
          </a:p>
        </p:txBody>
      </p:sp>
      <p:pic>
        <p:nvPicPr>
          <p:cNvPr id="5" name="Picture 4">
            <a:extLst>
              <a:ext uri="{FF2B5EF4-FFF2-40B4-BE49-F238E27FC236}">
                <a16:creationId xmlns:a16="http://schemas.microsoft.com/office/drawing/2014/main" id="{4CF70B8A-8E25-FE70-9F42-0023ECB6D57E}"/>
              </a:ext>
            </a:extLst>
          </p:cNvPr>
          <p:cNvPicPr>
            <a:picLocks noChangeAspect="1"/>
          </p:cNvPicPr>
          <p:nvPr/>
        </p:nvPicPr>
        <p:blipFill>
          <a:blip r:embed="rId2"/>
          <a:stretch>
            <a:fillRect/>
          </a:stretch>
        </p:blipFill>
        <p:spPr>
          <a:xfrm>
            <a:off x="2521768" y="382519"/>
            <a:ext cx="7148462" cy="3683989"/>
          </a:xfrm>
          <a:prstGeom prst="rect">
            <a:avLst/>
          </a:prstGeom>
        </p:spPr>
      </p:pic>
    </p:spTree>
    <p:extLst>
      <p:ext uri="{BB962C8B-B14F-4D97-AF65-F5344CB8AC3E}">
        <p14:creationId xmlns:p14="http://schemas.microsoft.com/office/powerpoint/2010/main" val="1214667596"/>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CC7191-C6AC-15E0-15CE-234C2C5EE3C1}"/>
              </a:ext>
            </a:extLst>
          </p:cNvPr>
          <p:cNvSpPr>
            <a:spLocks noGrp="1"/>
          </p:cNvSpPr>
          <p:nvPr>
            <p:ph idx="1"/>
          </p:nvPr>
        </p:nvSpPr>
        <p:spPr>
          <a:xfrm>
            <a:off x="6096000" y="1949450"/>
            <a:ext cx="5257800" cy="4195763"/>
          </a:xfrm>
        </p:spPr>
        <p:txBody>
          <a:bodyPr/>
          <a:lstStyle/>
          <a:p>
            <a:r>
              <a:rPr lang="en-US" i="1" dirty="0"/>
              <a:t>Labels for min/max of the slider are defined as text fields. They have been assigned the values of 0 and 10, and we need to convert these numerical values into string so that they can pe displayed on the interface.</a:t>
            </a:r>
            <a:endParaRPr lang="ro-RO" i="1" dirty="0"/>
          </a:p>
        </p:txBody>
      </p:sp>
      <p:pic>
        <p:nvPicPr>
          <p:cNvPr id="5" name="Picture 4">
            <a:extLst>
              <a:ext uri="{FF2B5EF4-FFF2-40B4-BE49-F238E27FC236}">
                <a16:creationId xmlns:a16="http://schemas.microsoft.com/office/drawing/2014/main" id="{BE002A07-F8F7-9E76-3A16-36F80083AFC6}"/>
              </a:ext>
            </a:extLst>
          </p:cNvPr>
          <p:cNvPicPr>
            <a:picLocks noChangeAspect="1"/>
          </p:cNvPicPr>
          <p:nvPr/>
        </p:nvPicPr>
        <p:blipFill>
          <a:blip r:embed="rId2"/>
          <a:stretch>
            <a:fillRect/>
          </a:stretch>
        </p:blipFill>
        <p:spPr>
          <a:xfrm>
            <a:off x="993457" y="1843292"/>
            <a:ext cx="4162957" cy="4448651"/>
          </a:xfrm>
          <a:prstGeom prst="rect">
            <a:avLst/>
          </a:prstGeom>
        </p:spPr>
      </p:pic>
    </p:spTree>
    <p:extLst>
      <p:ext uri="{BB962C8B-B14F-4D97-AF65-F5344CB8AC3E}">
        <p14:creationId xmlns:p14="http://schemas.microsoft.com/office/powerpoint/2010/main" val="1646520094"/>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C2B4B4B-B3D1-3B84-D8BF-379A8B4A3DDE}"/>
              </a:ext>
            </a:extLst>
          </p:cNvPr>
          <p:cNvSpPr>
            <a:spLocks noGrp="1"/>
          </p:cNvSpPr>
          <p:nvPr>
            <p:ph idx="1"/>
          </p:nvPr>
        </p:nvSpPr>
        <p:spPr>
          <a:xfrm>
            <a:off x="1384890" y="3525099"/>
            <a:ext cx="9422219" cy="2716213"/>
          </a:xfrm>
        </p:spPr>
        <p:txBody>
          <a:bodyPr/>
          <a:lstStyle/>
          <a:p>
            <a:r>
              <a:rPr lang="en-US" i="1" dirty="0"/>
              <a:t>The popup menu is created using a variable called “selection” that is assigned a value based on the index selected by the user. By calling the function “</a:t>
            </a:r>
            <a:r>
              <a:rPr lang="en-US" i="1" dirty="0" err="1"/>
              <a:t>showgraph</a:t>
            </a:r>
            <a:r>
              <a:rPr lang="en-US" i="1" dirty="0"/>
              <a:t>”, the correct graph is being displayed based on the value of the index.</a:t>
            </a:r>
            <a:endParaRPr lang="ro-RO" i="1" dirty="0"/>
          </a:p>
        </p:txBody>
      </p:sp>
      <p:pic>
        <p:nvPicPr>
          <p:cNvPr id="5" name="Picture 4">
            <a:extLst>
              <a:ext uri="{FF2B5EF4-FFF2-40B4-BE49-F238E27FC236}">
                <a16:creationId xmlns:a16="http://schemas.microsoft.com/office/drawing/2014/main" id="{B796909D-F342-9C93-EF31-D96E8A17E108}"/>
              </a:ext>
            </a:extLst>
          </p:cNvPr>
          <p:cNvPicPr>
            <a:picLocks noChangeAspect="1"/>
          </p:cNvPicPr>
          <p:nvPr/>
        </p:nvPicPr>
        <p:blipFill>
          <a:blip r:embed="rId2"/>
          <a:stretch>
            <a:fillRect/>
          </a:stretch>
        </p:blipFill>
        <p:spPr>
          <a:xfrm>
            <a:off x="2392069" y="616688"/>
            <a:ext cx="7690016" cy="2465187"/>
          </a:xfrm>
          <a:prstGeom prst="rect">
            <a:avLst/>
          </a:prstGeom>
        </p:spPr>
      </p:pic>
    </p:spTree>
    <p:extLst>
      <p:ext uri="{BB962C8B-B14F-4D97-AF65-F5344CB8AC3E}">
        <p14:creationId xmlns:p14="http://schemas.microsoft.com/office/powerpoint/2010/main" val="533950355"/>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8280F6-8BD0-B5E5-19D3-D55B926E4232}"/>
              </a:ext>
            </a:extLst>
          </p:cNvPr>
          <p:cNvSpPr>
            <a:spLocks noGrp="1"/>
          </p:cNvSpPr>
          <p:nvPr>
            <p:ph idx="1"/>
          </p:nvPr>
        </p:nvSpPr>
        <p:spPr>
          <a:xfrm>
            <a:off x="6198780" y="1949450"/>
            <a:ext cx="5741583" cy="4195763"/>
          </a:xfrm>
        </p:spPr>
        <p:txBody>
          <a:bodyPr>
            <a:normAutofit fontScale="92500" lnSpcReduction="10000"/>
          </a:bodyPr>
          <a:lstStyle/>
          <a:p>
            <a:r>
              <a:rPr lang="en-US" i="1" dirty="0" err="1"/>
              <a:t>uicontrol</a:t>
            </a:r>
            <a:r>
              <a:rPr lang="en-US" dirty="0"/>
              <a:t> </a:t>
            </a:r>
            <a:r>
              <a:rPr lang="en-US" i="1" dirty="0"/>
              <a:t>(‘Style’ , ‘</a:t>
            </a:r>
            <a:r>
              <a:rPr lang="en-US" i="1" dirty="0" err="1"/>
              <a:t>radiobutton</a:t>
            </a:r>
            <a:r>
              <a:rPr lang="en-US" i="1" dirty="0"/>
              <a:t>’…) – </a:t>
            </a:r>
            <a:r>
              <a:rPr lang="en-US" dirty="0"/>
              <a:t>creates a </a:t>
            </a:r>
            <a:r>
              <a:rPr lang="en-US" dirty="0" err="1"/>
              <a:t>radiobutton</a:t>
            </a:r>
            <a:r>
              <a:rPr lang="en-US" dirty="0"/>
              <a:t> used to display the electrical </a:t>
            </a:r>
            <a:r>
              <a:rPr lang="en-US" dirty="0" err="1"/>
              <a:t>chematic</a:t>
            </a:r>
            <a:r>
              <a:rPr lang="en-US" dirty="0"/>
              <a:t> of the circuit, through callback of the function “</a:t>
            </a:r>
            <a:r>
              <a:rPr lang="en-US" dirty="0" err="1"/>
              <a:t>showpic</a:t>
            </a:r>
            <a:r>
              <a:rPr lang="en-US" dirty="0"/>
              <a:t>”</a:t>
            </a:r>
          </a:p>
          <a:p>
            <a:r>
              <a:rPr lang="en-US" i="1" dirty="0" err="1"/>
              <a:t>uicontrol</a:t>
            </a:r>
            <a:r>
              <a:rPr lang="en-US" dirty="0"/>
              <a:t> </a:t>
            </a:r>
            <a:r>
              <a:rPr lang="en-US" i="1" dirty="0"/>
              <a:t>(‘Style’ , ‘checkbox’…) – </a:t>
            </a:r>
            <a:r>
              <a:rPr lang="en-US" dirty="0"/>
              <a:t>creates a checkbox and, if it is checked, the two edit boxes previously mentioned appear on the interface</a:t>
            </a:r>
            <a:endParaRPr lang="ro-RO" dirty="0"/>
          </a:p>
        </p:txBody>
      </p:sp>
      <p:pic>
        <p:nvPicPr>
          <p:cNvPr id="5" name="Picture 4">
            <a:extLst>
              <a:ext uri="{FF2B5EF4-FFF2-40B4-BE49-F238E27FC236}">
                <a16:creationId xmlns:a16="http://schemas.microsoft.com/office/drawing/2014/main" id="{406E4A18-2969-01B0-11E3-C895B3984466}"/>
              </a:ext>
            </a:extLst>
          </p:cNvPr>
          <p:cNvPicPr>
            <a:picLocks noChangeAspect="1"/>
          </p:cNvPicPr>
          <p:nvPr/>
        </p:nvPicPr>
        <p:blipFill>
          <a:blip r:embed="rId2"/>
          <a:stretch>
            <a:fillRect/>
          </a:stretch>
        </p:blipFill>
        <p:spPr>
          <a:xfrm>
            <a:off x="506538" y="1949450"/>
            <a:ext cx="5486682" cy="4197566"/>
          </a:xfrm>
          <a:prstGeom prst="rect">
            <a:avLst/>
          </a:prstGeom>
        </p:spPr>
      </p:pic>
    </p:spTree>
    <p:extLst>
      <p:ext uri="{BB962C8B-B14F-4D97-AF65-F5344CB8AC3E}">
        <p14:creationId xmlns:p14="http://schemas.microsoft.com/office/powerpoint/2010/main" val="2425284022"/>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4FB512-5286-2B08-8747-B14AD3AD7899}"/>
              </a:ext>
            </a:extLst>
          </p:cNvPr>
          <p:cNvSpPr>
            <a:spLocks noGrp="1"/>
          </p:cNvSpPr>
          <p:nvPr>
            <p:ph idx="1"/>
          </p:nvPr>
        </p:nvSpPr>
        <p:spPr>
          <a:xfrm>
            <a:off x="838200" y="1949450"/>
            <a:ext cx="5456274" cy="4195763"/>
          </a:xfrm>
        </p:spPr>
        <p:txBody>
          <a:bodyPr/>
          <a:lstStyle/>
          <a:p>
            <a:r>
              <a:rPr lang="en-US" i="1" dirty="0"/>
              <a:t>Here we created two pushbuttons: one that takes the user back to the main interface (or menu) through callback of the function “menu” and one that closes the interface completely.</a:t>
            </a:r>
            <a:endParaRPr lang="ro-RO" i="1" dirty="0"/>
          </a:p>
        </p:txBody>
      </p:sp>
      <p:pic>
        <p:nvPicPr>
          <p:cNvPr id="5" name="Picture 4">
            <a:extLst>
              <a:ext uri="{FF2B5EF4-FFF2-40B4-BE49-F238E27FC236}">
                <a16:creationId xmlns:a16="http://schemas.microsoft.com/office/drawing/2014/main" id="{633B24A1-E084-B3EE-9162-CBAD5F99AA9C}"/>
              </a:ext>
            </a:extLst>
          </p:cNvPr>
          <p:cNvPicPr>
            <a:picLocks noChangeAspect="1"/>
          </p:cNvPicPr>
          <p:nvPr/>
        </p:nvPicPr>
        <p:blipFill>
          <a:blip r:embed="rId2"/>
          <a:stretch>
            <a:fillRect/>
          </a:stretch>
        </p:blipFill>
        <p:spPr>
          <a:xfrm>
            <a:off x="7077709" y="1949450"/>
            <a:ext cx="3977233" cy="4195762"/>
          </a:xfrm>
          <a:prstGeom prst="rect">
            <a:avLst/>
          </a:prstGeom>
        </p:spPr>
      </p:pic>
    </p:spTree>
    <p:extLst>
      <p:ext uri="{BB962C8B-B14F-4D97-AF65-F5344CB8AC3E}">
        <p14:creationId xmlns:p14="http://schemas.microsoft.com/office/powerpoint/2010/main" val="2187979185"/>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407F7B-9424-8695-526C-A8E76123E0B5}"/>
              </a:ext>
            </a:extLst>
          </p:cNvPr>
          <p:cNvSpPr>
            <a:spLocks noGrp="1"/>
          </p:cNvSpPr>
          <p:nvPr>
            <p:ph idx="1"/>
          </p:nvPr>
        </p:nvSpPr>
        <p:spPr>
          <a:xfrm>
            <a:off x="6096000" y="1949450"/>
            <a:ext cx="5257800" cy="4195763"/>
          </a:xfrm>
        </p:spPr>
        <p:txBody>
          <a:bodyPr/>
          <a:lstStyle/>
          <a:p>
            <a:pPr marL="0" indent="0">
              <a:buNone/>
            </a:pPr>
            <a:r>
              <a:rPr lang="en-US" i="1" dirty="0"/>
              <a:t>This function, called “show”, allows the program to either display or not the two text and edit boxes and the slider (with name and labels) depending weather or not the checkbox is checked or not ( has the value 0 =&gt; false, 1 =&gt;true).</a:t>
            </a:r>
            <a:endParaRPr lang="ro-RO" i="1" dirty="0"/>
          </a:p>
        </p:txBody>
      </p:sp>
      <p:pic>
        <p:nvPicPr>
          <p:cNvPr id="5" name="Picture 4">
            <a:extLst>
              <a:ext uri="{FF2B5EF4-FFF2-40B4-BE49-F238E27FC236}">
                <a16:creationId xmlns:a16="http://schemas.microsoft.com/office/drawing/2014/main" id="{C5599849-C478-37D5-E89B-EA18A1FB20E4}"/>
              </a:ext>
            </a:extLst>
          </p:cNvPr>
          <p:cNvPicPr>
            <a:picLocks noChangeAspect="1"/>
          </p:cNvPicPr>
          <p:nvPr/>
        </p:nvPicPr>
        <p:blipFill>
          <a:blip r:embed="rId2"/>
          <a:stretch>
            <a:fillRect/>
          </a:stretch>
        </p:blipFill>
        <p:spPr>
          <a:xfrm>
            <a:off x="838200" y="1488172"/>
            <a:ext cx="4389516" cy="4803771"/>
          </a:xfrm>
          <a:prstGeom prst="rect">
            <a:avLst/>
          </a:prstGeom>
        </p:spPr>
      </p:pic>
    </p:spTree>
    <p:extLst>
      <p:ext uri="{BB962C8B-B14F-4D97-AF65-F5344CB8AC3E}">
        <p14:creationId xmlns:p14="http://schemas.microsoft.com/office/powerpoint/2010/main" val="4045467499"/>
      </p:ext>
    </p:ext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4041B-4EA7-4299-2CE1-8CE539F58350}"/>
              </a:ext>
            </a:extLst>
          </p:cNvPr>
          <p:cNvSpPr>
            <a:spLocks noGrp="1"/>
          </p:cNvSpPr>
          <p:nvPr>
            <p:ph type="title"/>
          </p:nvPr>
        </p:nvSpPr>
        <p:spPr/>
        <p:txBody>
          <a:bodyPr/>
          <a:lstStyle/>
          <a:p>
            <a:r>
              <a:rPr lang="en-US" dirty="0" err="1"/>
              <a:t>showpic.m</a:t>
            </a:r>
            <a:endParaRPr lang="ro-RO" dirty="0"/>
          </a:p>
        </p:txBody>
      </p:sp>
      <p:sp>
        <p:nvSpPr>
          <p:cNvPr id="3" name="Content Placeholder 2">
            <a:extLst>
              <a:ext uri="{FF2B5EF4-FFF2-40B4-BE49-F238E27FC236}">
                <a16:creationId xmlns:a16="http://schemas.microsoft.com/office/drawing/2014/main" id="{95BFF72C-3962-2359-DF04-A96072FE1D74}"/>
              </a:ext>
            </a:extLst>
          </p:cNvPr>
          <p:cNvSpPr>
            <a:spLocks noGrp="1"/>
          </p:cNvSpPr>
          <p:nvPr>
            <p:ph idx="1"/>
          </p:nvPr>
        </p:nvSpPr>
        <p:spPr>
          <a:xfrm>
            <a:off x="838200" y="4184531"/>
            <a:ext cx="10515600" cy="2307709"/>
          </a:xfrm>
        </p:spPr>
        <p:txBody>
          <a:bodyPr/>
          <a:lstStyle/>
          <a:p>
            <a:pPr marL="0" indent="0">
              <a:buNone/>
            </a:pPr>
            <a:r>
              <a:rPr lang="en-US" i="1" dirty="0"/>
              <a:t>This function with the parameter “</a:t>
            </a:r>
            <a:r>
              <a:rPr lang="en-US" i="1" dirty="0" err="1"/>
              <a:t>radiobutton</a:t>
            </a:r>
            <a:r>
              <a:rPr lang="en-US" i="1" dirty="0"/>
              <a:t>” displays a picture of the circuit, if the value of the parameter is 1, or a picture of the background, for value 0. The function reads the image from the folder and then it is displayed on a certain position.</a:t>
            </a:r>
            <a:endParaRPr lang="ro-RO" i="1" dirty="0"/>
          </a:p>
        </p:txBody>
      </p:sp>
      <p:pic>
        <p:nvPicPr>
          <p:cNvPr id="5" name="Picture 4">
            <a:extLst>
              <a:ext uri="{FF2B5EF4-FFF2-40B4-BE49-F238E27FC236}">
                <a16:creationId xmlns:a16="http://schemas.microsoft.com/office/drawing/2014/main" id="{AC840B35-C6F8-00D5-54FF-D7D98AA0CF97}"/>
              </a:ext>
            </a:extLst>
          </p:cNvPr>
          <p:cNvPicPr>
            <a:picLocks noChangeAspect="1"/>
          </p:cNvPicPr>
          <p:nvPr/>
        </p:nvPicPr>
        <p:blipFill>
          <a:blip r:embed="rId2"/>
          <a:stretch>
            <a:fillRect/>
          </a:stretch>
        </p:blipFill>
        <p:spPr>
          <a:xfrm>
            <a:off x="4458358" y="602680"/>
            <a:ext cx="6531657" cy="3344931"/>
          </a:xfrm>
          <a:prstGeom prst="rect">
            <a:avLst/>
          </a:prstGeom>
        </p:spPr>
      </p:pic>
    </p:spTree>
    <p:extLst>
      <p:ext uri="{BB962C8B-B14F-4D97-AF65-F5344CB8AC3E}">
        <p14:creationId xmlns:p14="http://schemas.microsoft.com/office/powerpoint/2010/main" val="3406907360"/>
      </p:ext>
    </p:extLst>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9" name="Picture 8">
            <a:extLst>
              <a:ext uri="{FF2B5EF4-FFF2-40B4-BE49-F238E27FC236}">
                <a16:creationId xmlns:a16="http://schemas.microsoft.com/office/drawing/2014/main" id="{1CB7E8AE-A3AC-4BB7-A5C6-F00EC697B2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1" name="Rectangle 10">
            <a:extLst>
              <a:ext uri="{FF2B5EF4-FFF2-40B4-BE49-F238E27FC236}">
                <a16:creationId xmlns:a16="http://schemas.microsoft.com/office/drawing/2014/main" id="{2D924463-4DB7-437D-85B1-7EE5042DE5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3" name="Rectangle 12">
            <a:extLst>
              <a:ext uri="{FF2B5EF4-FFF2-40B4-BE49-F238E27FC236}">
                <a16:creationId xmlns:a16="http://schemas.microsoft.com/office/drawing/2014/main" id="{9F108545-2EA9-4B3E-915B-2959496080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2" name="Title 1">
            <a:extLst>
              <a:ext uri="{FF2B5EF4-FFF2-40B4-BE49-F238E27FC236}">
                <a16:creationId xmlns:a16="http://schemas.microsoft.com/office/drawing/2014/main" id="{42DB58DE-877C-7C74-C48D-C221514629D0}"/>
              </a:ext>
            </a:extLst>
          </p:cNvPr>
          <p:cNvSpPr>
            <a:spLocks noGrp="1"/>
          </p:cNvSpPr>
          <p:nvPr>
            <p:ph type="title"/>
          </p:nvPr>
        </p:nvSpPr>
        <p:spPr>
          <a:xfrm>
            <a:off x="4495799" y="744909"/>
            <a:ext cx="6858000" cy="3155419"/>
          </a:xfrm>
        </p:spPr>
        <p:txBody>
          <a:bodyPr vert="horz" lIns="91440" tIns="45720" rIns="91440" bIns="45720" rtlCol="0" anchor="b">
            <a:normAutofit/>
          </a:bodyPr>
          <a:lstStyle/>
          <a:p>
            <a:r>
              <a:rPr lang="en-US" sz="5200" dirty="0">
                <a:solidFill>
                  <a:schemeClr val="tx2"/>
                </a:solidFill>
              </a:rPr>
              <a:t>THEORETICAL ASPECTS</a:t>
            </a:r>
          </a:p>
        </p:txBody>
      </p:sp>
      <p:sp>
        <p:nvSpPr>
          <p:cNvPr id="15" name="Rectangle 14">
            <a:extLst>
              <a:ext uri="{FF2B5EF4-FFF2-40B4-BE49-F238E27FC236}">
                <a16:creationId xmlns:a16="http://schemas.microsoft.com/office/drawing/2014/main" id="{392BFCFE-FD78-4EDF-BEFE-CC444DC5F3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578352"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7" name="Rectangle 16">
            <a:extLst>
              <a:ext uri="{FF2B5EF4-FFF2-40B4-BE49-F238E27FC236}">
                <a16:creationId xmlns:a16="http://schemas.microsoft.com/office/drawing/2014/main" id="{4572B5A9-5531-4FA5-8C90-295EFED8BF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7060" y="22493"/>
            <a:ext cx="3561292" cy="6830508"/>
          </a:xfrm>
          <a:prstGeom prst="rect">
            <a:avLst/>
          </a:prstGeom>
          <a:blipFill dpi="0" rotWithShape="1">
            <a:blip r:embed="rId3">
              <a:alphaModFix amt="40000"/>
              <a:duotone>
                <a:schemeClr val="accent1">
                  <a:shade val="45000"/>
                  <a:satMod val="135000"/>
                </a:schemeClr>
                <a:prstClr val="white"/>
              </a:duotone>
            </a:blip>
            <a:srcRect/>
            <a:tile tx="889000" ty="0" sx="100000" sy="100000" flip="xy" algn="t"/>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9FD2F31B-52E5-E209-CDD3-9CA6EDBCB129}"/>
              </a:ext>
            </a:extLst>
          </p:cNvPr>
          <p:cNvSpPr txBox="1"/>
          <p:nvPr/>
        </p:nvSpPr>
        <p:spPr>
          <a:xfrm>
            <a:off x="4702629" y="5585153"/>
            <a:ext cx="4626428" cy="523220"/>
          </a:xfrm>
          <a:prstGeom prst="rect">
            <a:avLst/>
          </a:prstGeom>
          <a:noFill/>
        </p:spPr>
        <p:txBody>
          <a:bodyPr wrap="square" rtlCol="0">
            <a:spAutoFit/>
          </a:bodyPr>
          <a:lstStyle/>
          <a:p>
            <a:r>
              <a:rPr lang="en-US" sz="2800" dirty="0"/>
              <a:t>(used in </a:t>
            </a:r>
            <a:r>
              <a:rPr lang="en-US" sz="2800" dirty="0" err="1"/>
              <a:t>showgraph.m</a:t>
            </a:r>
            <a:r>
              <a:rPr lang="en-US" sz="2800" dirty="0"/>
              <a:t>)</a:t>
            </a:r>
            <a:endParaRPr lang="ro-RO" sz="2800" dirty="0"/>
          </a:p>
        </p:txBody>
      </p:sp>
    </p:spTree>
    <p:extLst>
      <p:ext uri="{BB962C8B-B14F-4D97-AF65-F5344CB8AC3E}">
        <p14:creationId xmlns:p14="http://schemas.microsoft.com/office/powerpoint/2010/main" val="2489450600"/>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C653F-D535-CB14-F980-73E89E3B05C9}"/>
              </a:ext>
            </a:extLst>
          </p:cNvPr>
          <p:cNvSpPr>
            <a:spLocks noGrp="1"/>
          </p:cNvSpPr>
          <p:nvPr>
            <p:ph type="title"/>
          </p:nvPr>
        </p:nvSpPr>
        <p:spPr/>
        <p:txBody>
          <a:bodyPr/>
          <a:lstStyle/>
          <a:p>
            <a:r>
              <a:rPr lang="en-US" dirty="0"/>
              <a:t>Definitions </a:t>
            </a:r>
            <a:endParaRPr lang="ro-RO" dirty="0"/>
          </a:p>
        </p:txBody>
      </p:sp>
      <p:sp>
        <p:nvSpPr>
          <p:cNvPr id="3" name="Content Placeholder 2">
            <a:extLst>
              <a:ext uri="{FF2B5EF4-FFF2-40B4-BE49-F238E27FC236}">
                <a16:creationId xmlns:a16="http://schemas.microsoft.com/office/drawing/2014/main" id="{AEFBB4B9-C227-5885-40B8-23B8860B96D7}"/>
              </a:ext>
            </a:extLst>
          </p:cNvPr>
          <p:cNvSpPr>
            <a:spLocks noGrp="1"/>
          </p:cNvSpPr>
          <p:nvPr>
            <p:ph idx="1"/>
          </p:nvPr>
        </p:nvSpPr>
        <p:spPr/>
        <p:txBody>
          <a:bodyPr/>
          <a:lstStyle/>
          <a:p>
            <a:r>
              <a:rPr lang="en-US" dirty="0"/>
              <a:t>RLC circuits are electrical circuits </a:t>
            </a:r>
            <a:r>
              <a:rPr lang="en-US" b="0" i="0" dirty="0">
                <a:effectLst/>
              </a:rPr>
              <a:t>consisting of a resistor (R), an inductor (L), and a capacitor (C), connected in series or in parallel. In this project, we consider a circuit where the components are connected in parallel.</a:t>
            </a:r>
          </a:p>
          <a:p>
            <a:r>
              <a:rPr lang="en-US" b="0" i="0" dirty="0">
                <a:effectLst/>
              </a:rPr>
              <a:t>RLC circuits have many applications as </a:t>
            </a:r>
            <a:r>
              <a:rPr lang="en-US" dirty="0"/>
              <a:t>oscillator circuits</a:t>
            </a:r>
            <a:r>
              <a:rPr lang="en-US" b="0" i="0" dirty="0">
                <a:effectLst/>
              </a:rPr>
              <a:t>.</a:t>
            </a:r>
          </a:p>
          <a:p>
            <a:r>
              <a:rPr lang="en-US" b="0" i="0" dirty="0">
                <a:effectLst/>
              </a:rPr>
              <a:t>An RLC circuit can be used as a </a:t>
            </a:r>
            <a:r>
              <a:rPr lang="en-US" dirty="0"/>
              <a:t>band-pass filter</a:t>
            </a:r>
            <a:r>
              <a:rPr lang="en-US" b="0" i="0" dirty="0">
                <a:effectLst/>
              </a:rPr>
              <a:t>, </a:t>
            </a:r>
            <a:r>
              <a:rPr lang="en-US" dirty="0"/>
              <a:t>band-stop filter</a:t>
            </a:r>
            <a:r>
              <a:rPr lang="en-US" b="0" i="0" dirty="0">
                <a:effectLst/>
              </a:rPr>
              <a:t>, </a:t>
            </a:r>
            <a:r>
              <a:rPr lang="en-US" dirty="0"/>
              <a:t>low-pass filter</a:t>
            </a:r>
            <a:r>
              <a:rPr lang="en-US" b="0" i="0" dirty="0">
                <a:effectLst/>
              </a:rPr>
              <a:t> or </a:t>
            </a:r>
            <a:r>
              <a:rPr lang="en-US" dirty="0"/>
              <a:t>high-pass filter</a:t>
            </a:r>
            <a:r>
              <a:rPr lang="en-US" b="0" i="0" dirty="0">
                <a:effectLst/>
              </a:rPr>
              <a:t>.</a:t>
            </a:r>
            <a:endParaRPr lang="ro-RO" dirty="0"/>
          </a:p>
        </p:txBody>
      </p:sp>
    </p:spTree>
    <p:extLst>
      <p:ext uri="{BB962C8B-B14F-4D97-AF65-F5344CB8AC3E}">
        <p14:creationId xmlns:p14="http://schemas.microsoft.com/office/powerpoint/2010/main" val="1368955454"/>
      </p:ext>
    </p:extLst>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DDD1E-85CC-CD1A-5A29-DA998A92EE7A}"/>
              </a:ext>
            </a:extLst>
          </p:cNvPr>
          <p:cNvSpPr>
            <a:spLocks noGrp="1"/>
          </p:cNvSpPr>
          <p:nvPr>
            <p:ph type="title"/>
          </p:nvPr>
        </p:nvSpPr>
        <p:spPr/>
        <p:txBody>
          <a:bodyPr/>
          <a:lstStyle/>
          <a:p>
            <a:r>
              <a:rPr lang="en-US" dirty="0"/>
              <a:t>Formulas</a:t>
            </a:r>
            <a:endParaRPr lang="ro-RO" dirty="0"/>
          </a:p>
        </p:txBody>
      </p:sp>
      <p:sp>
        <p:nvSpPr>
          <p:cNvPr id="3" name="Content Placeholder 2">
            <a:extLst>
              <a:ext uri="{FF2B5EF4-FFF2-40B4-BE49-F238E27FC236}">
                <a16:creationId xmlns:a16="http://schemas.microsoft.com/office/drawing/2014/main" id="{7CA4366F-941C-7ADF-0CDA-C73D4916DEDA}"/>
              </a:ext>
            </a:extLst>
          </p:cNvPr>
          <p:cNvSpPr>
            <a:spLocks noGrp="1"/>
          </p:cNvSpPr>
          <p:nvPr>
            <p:ph idx="1"/>
          </p:nvPr>
        </p:nvSpPr>
        <p:spPr>
          <a:xfrm>
            <a:off x="838200" y="1949450"/>
            <a:ext cx="10515600" cy="1718783"/>
          </a:xfrm>
        </p:spPr>
        <p:txBody>
          <a:bodyPr>
            <a:normAutofit lnSpcReduction="10000"/>
          </a:bodyPr>
          <a:lstStyle/>
          <a:p>
            <a:pPr marL="0" indent="0">
              <a:buNone/>
            </a:pPr>
            <a:r>
              <a:rPr lang="ro-RO" sz="2800" i="1" dirty="0">
                <a:solidFill>
                  <a:schemeClr val="bg1"/>
                </a:solidFill>
              </a:rPr>
              <a:t>Impedan</a:t>
            </a:r>
            <a:r>
              <a:rPr lang="en-US" sz="2800" i="1" dirty="0" err="1">
                <a:solidFill>
                  <a:schemeClr val="bg1"/>
                </a:solidFill>
              </a:rPr>
              <a:t>ce</a:t>
            </a:r>
            <a:r>
              <a:rPr lang="ro-RO" sz="2800" i="1" dirty="0">
                <a:solidFill>
                  <a:schemeClr val="bg1"/>
                </a:solidFill>
              </a:rPr>
              <a:t> R</a:t>
            </a:r>
            <a:r>
              <a:rPr lang="en-US" sz="2800" i="1" dirty="0">
                <a:solidFill>
                  <a:schemeClr val="bg1"/>
                </a:solidFill>
              </a:rPr>
              <a:t>:</a:t>
            </a:r>
            <a:r>
              <a:rPr lang="ro-RO" sz="2800" dirty="0">
                <a:solidFill>
                  <a:schemeClr val="bg1"/>
                </a:solidFill>
              </a:rPr>
              <a:t> Xr = R </a:t>
            </a:r>
            <a:r>
              <a:rPr lang="en-US" sz="2800" dirty="0">
                <a:solidFill>
                  <a:schemeClr val="bg1"/>
                </a:solidFill>
              </a:rPr>
              <a:t> (first graph)</a:t>
            </a:r>
          </a:p>
          <a:p>
            <a:pPr marL="0" indent="0">
              <a:buNone/>
            </a:pPr>
            <a:r>
              <a:rPr lang="ro-RO" sz="2800" i="1" dirty="0">
                <a:solidFill>
                  <a:schemeClr val="bg1"/>
                </a:solidFill>
              </a:rPr>
              <a:t>Impedan</a:t>
            </a:r>
            <a:r>
              <a:rPr lang="en-US" sz="2800" i="1" dirty="0" err="1">
                <a:solidFill>
                  <a:schemeClr val="bg1"/>
                </a:solidFill>
              </a:rPr>
              <a:t>ce</a:t>
            </a:r>
            <a:r>
              <a:rPr lang="ro-RO" sz="2800" i="1" dirty="0">
                <a:solidFill>
                  <a:schemeClr val="bg1"/>
                </a:solidFill>
              </a:rPr>
              <a:t> L</a:t>
            </a:r>
            <a:r>
              <a:rPr lang="en-US" sz="2800" i="1" dirty="0">
                <a:solidFill>
                  <a:schemeClr val="bg1"/>
                </a:solidFill>
              </a:rPr>
              <a:t>:</a:t>
            </a:r>
            <a:r>
              <a:rPr lang="ro-RO" sz="2800" i="1" dirty="0">
                <a:solidFill>
                  <a:schemeClr val="bg1"/>
                </a:solidFill>
              </a:rPr>
              <a:t> </a:t>
            </a:r>
            <a:r>
              <a:rPr lang="ro-RO" sz="2800" dirty="0">
                <a:solidFill>
                  <a:schemeClr val="bg1"/>
                </a:solidFill>
              </a:rPr>
              <a:t>XL = 2 * pi * f * L </a:t>
            </a:r>
            <a:r>
              <a:rPr lang="en-US" sz="2800" dirty="0">
                <a:solidFill>
                  <a:schemeClr val="bg1"/>
                </a:solidFill>
              </a:rPr>
              <a:t>(second graph)</a:t>
            </a:r>
            <a:endParaRPr lang="ro-RO" sz="2800" dirty="0">
              <a:solidFill>
                <a:schemeClr val="bg1"/>
              </a:solidFill>
            </a:endParaRPr>
          </a:p>
          <a:p>
            <a:pPr marL="0" indent="0">
              <a:buNone/>
            </a:pPr>
            <a:r>
              <a:rPr lang="ro-RO" sz="2800" i="1" dirty="0">
                <a:solidFill>
                  <a:schemeClr val="bg1"/>
                </a:solidFill>
              </a:rPr>
              <a:t>Impedan</a:t>
            </a:r>
            <a:r>
              <a:rPr lang="en-US" sz="2800" i="1" dirty="0" err="1">
                <a:solidFill>
                  <a:schemeClr val="bg1"/>
                </a:solidFill>
              </a:rPr>
              <a:t>ce</a:t>
            </a:r>
            <a:r>
              <a:rPr lang="ro-RO" sz="2800" i="1" dirty="0">
                <a:solidFill>
                  <a:schemeClr val="bg1"/>
                </a:solidFill>
              </a:rPr>
              <a:t> C</a:t>
            </a:r>
            <a:r>
              <a:rPr lang="en-US" sz="2800" i="1" dirty="0">
                <a:solidFill>
                  <a:schemeClr val="bg1"/>
                </a:solidFill>
              </a:rPr>
              <a:t>:</a:t>
            </a:r>
            <a:r>
              <a:rPr lang="ro-RO" sz="2800" i="1" dirty="0">
                <a:solidFill>
                  <a:schemeClr val="bg1"/>
                </a:solidFill>
              </a:rPr>
              <a:t> </a:t>
            </a:r>
            <a:r>
              <a:rPr lang="ro-RO" sz="2800" dirty="0">
                <a:solidFill>
                  <a:schemeClr val="bg1"/>
                </a:solidFill>
              </a:rPr>
              <a:t>XC = 1 ./ 2 * pi * f * C </a:t>
            </a:r>
            <a:r>
              <a:rPr lang="en-US" sz="2800" dirty="0">
                <a:solidFill>
                  <a:schemeClr val="bg1"/>
                </a:solidFill>
              </a:rPr>
              <a:t>(third graph)</a:t>
            </a:r>
            <a:endParaRPr lang="ro-RO" sz="2800" dirty="0">
              <a:solidFill>
                <a:schemeClr val="bg1"/>
              </a:solidFill>
            </a:endParaRPr>
          </a:p>
          <a:p>
            <a:endParaRPr lang="ro-RO" dirty="0"/>
          </a:p>
        </p:txBody>
      </p:sp>
      <p:sp>
        <p:nvSpPr>
          <p:cNvPr id="5" name="TextBox 4">
            <a:extLst>
              <a:ext uri="{FF2B5EF4-FFF2-40B4-BE49-F238E27FC236}">
                <a16:creationId xmlns:a16="http://schemas.microsoft.com/office/drawing/2014/main" id="{FD7120CF-5740-BA4D-E156-CA07B5767F5C}"/>
              </a:ext>
            </a:extLst>
          </p:cNvPr>
          <p:cNvSpPr txBox="1"/>
          <p:nvPr/>
        </p:nvSpPr>
        <p:spPr>
          <a:xfrm>
            <a:off x="1084521" y="3934047"/>
            <a:ext cx="3827721" cy="954107"/>
          </a:xfrm>
          <a:prstGeom prst="rect">
            <a:avLst/>
          </a:prstGeom>
          <a:noFill/>
        </p:spPr>
        <p:txBody>
          <a:bodyPr wrap="square" rtlCol="0">
            <a:spAutoFit/>
          </a:bodyPr>
          <a:lstStyle/>
          <a:p>
            <a:r>
              <a:rPr lang="en-US" sz="2800" i="1" dirty="0">
                <a:solidFill>
                  <a:schemeClr val="bg1"/>
                </a:solidFill>
              </a:rPr>
              <a:t>Total impedance of an RLC parallel circuit:</a:t>
            </a:r>
            <a:endParaRPr lang="ro-RO" sz="2800" i="1" dirty="0">
              <a:solidFill>
                <a:schemeClr val="bg1"/>
              </a:solidFill>
            </a:endParaRPr>
          </a:p>
        </p:txBody>
      </p:sp>
      <p:sp>
        <p:nvSpPr>
          <p:cNvPr id="6" name="TextBox 5">
            <a:extLst>
              <a:ext uri="{FF2B5EF4-FFF2-40B4-BE49-F238E27FC236}">
                <a16:creationId xmlns:a16="http://schemas.microsoft.com/office/drawing/2014/main" id="{944E39E8-4B65-5471-ACD7-87F8E649CBBD}"/>
              </a:ext>
            </a:extLst>
          </p:cNvPr>
          <p:cNvSpPr txBox="1"/>
          <p:nvPr/>
        </p:nvSpPr>
        <p:spPr>
          <a:xfrm>
            <a:off x="6602819" y="3934047"/>
            <a:ext cx="4104167" cy="954107"/>
          </a:xfrm>
          <a:prstGeom prst="rect">
            <a:avLst/>
          </a:prstGeom>
          <a:noFill/>
        </p:spPr>
        <p:txBody>
          <a:bodyPr wrap="square" rtlCol="0">
            <a:spAutoFit/>
          </a:bodyPr>
          <a:lstStyle/>
          <a:p>
            <a:r>
              <a:rPr lang="en-US" sz="2800" i="1" dirty="0">
                <a:solidFill>
                  <a:schemeClr val="bg1"/>
                </a:solidFill>
              </a:rPr>
              <a:t>Equivalent impedance of an RLC parallel circuit: </a:t>
            </a:r>
            <a:endParaRPr lang="ro-RO" sz="2800" i="1" dirty="0">
              <a:solidFill>
                <a:schemeClr val="bg1"/>
              </a:solidFill>
            </a:endParaRPr>
          </a:p>
        </p:txBody>
      </p:sp>
      <p:pic>
        <p:nvPicPr>
          <p:cNvPr id="8" name="Picture 7">
            <a:extLst>
              <a:ext uri="{FF2B5EF4-FFF2-40B4-BE49-F238E27FC236}">
                <a16:creationId xmlns:a16="http://schemas.microsoft.com/office/drawing/2014/main" id="{796CD54F-4825-C6C6-F868-8FC90F5187D2}"/>
              </a:ext>
            </a:extLst>
          </p:cNvPr>
          <p:cNvPicPr>
            <a:picLocks noChangeAspect="1"/>
          </p:cNvPicPr>
          <p:nvPr/>
        </p:nvPicPr>
        <p:blipFill>
          <a:blip r:embed="rId2"/>
          <a:stretch>
            <a:fillRect/>
          </a:stretch>
        </p:blipFill>
        <p:spPr>
          <a:xfrm>
            <a:off x="1903227" y="4902526"/>
            <a:ext cx="3200401" cy="1589714"/>
          </a:xfrm>
          <a:prstGeom prst="rect">
            <a:avLst/>
          </a:prstGeom>
        </p:spPr>
      </p:pic>
      <p:pic>
        <p:nvPicPr>
          <p:cNvPr id="10" name="Picture 9">
            <a:extLst>
              <a:ext uri="{FF2B5EF4-FFF2-40B4-BE49-F238E27FC236}">
                <a16:creationId xmlns:a16="http://schemas.microsoft.com/office/drawing/2014/main" id="{CA5718C9-423E-AC99-0C42-AE3D062EAF52}"/>
              </a:ext>
            </a:extLst>
          </p:cNvPr>
          <p:cNvPicPr>
            <a:picLocks noChangeAspect="1"/>
          </p:cNvPicPr>
          <p:nvPr/>
        </p:nvPicPr>
        <p:blipFill>
          <a:blip r:embed="rId3"/>
          <a:stretch>
            <a:fillRect/>
          </a:stretch>
        </p:blipFill>
        <p:spPr>
          <a:xfrm>
            <a:off x="6607173" y="5153968"/>
            <a:ext cx="4635953" cy="954107"/>
          </a:xfrm>
          <a:prstGeom prst="rect">
            <a:avLst/>
          </a:prstGeom>
        </p:spPr>
      </p:pic>
    </p:spTree>
    <p:extLst>
      <p:ext uri="{BB962C8B-B14F-4D97-AF65-F5344CB8AC3E}">
        <p14:creationId xmlns:p14="http://schemas.microsoft.com/office/powerpoint/2010/main" val="437311077"/>
      </p:ext>
    </p:extLst>
  </p:cSld>
  <p:clrMapOvr>
    <a:masterClrMapping/>
  </p:clrMapOvr>
  <p:transition spd="slow">
    <p:push dir="u"/>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9" name="Picture 8">
            <a:extLst>
              <a:ext uri="{FF2B5EF4-FFF2-40B4-BE49-F238E27FC236}">
                <a16:creationId xmlns:a16="http://schemas.microsoft.com/office/drawing/2014/main" id="{1CB7E8AE-A3AC-4BB7-A5C6-F00EC697B2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1" name="Rectangle 10">
            <a:extLst>
              <a:ext uri="{FF2B5EF4-FFF2-40B4-BE49-F238E27FC236}">
                <a16:creationId xmlns:a16="http://schemas.microsoft.com/office/drawing/2014/main" id="{2D924463-4DB7-437D-85B1-7EE5042DE5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3" name="Rectangle 12">
            <a:extLst>
              <a:ext uri="{FF2B5EF4-FFF2-40B4-BE49-F238E27FC236}">
                <a16:creationId xmlns:a16="http://schemas.microsoft.com/office/drawing/2014/main" id="{9F108545-2EA9-4B3E-915B-2959496080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2" name="Title 1">
            <a:extLst>
              <a:ext uri="{FF2B5EF4-FFF2-40B4-BE49-F238E27FC236}">
                <a16:creationId xmlns:a16="http://schemas.microsoft.com/office/drawing/2014/main" id="{51619FD5-DB4B-9962-2B66-D542E16C7B68}"/>
              </a:ext>
            </a:extLst>
          </p:cNvPr>
          <p:cNvSpPr>
            <a:spLocks noGrp="1"/>
          </p:cNvSpPr>
          <p:nvPr>
            <p:ph type="title"/>
          </p:nvPr>
        </p:nvSpPr>
        <p:spPr>
          <a:xfrm>
            <a:off x="4495799" y="744909"/>
            <a:ext cx="6858000" cy="3155419"/>
          </a:xfrm>
        </p:spPr>
        <p:txBody>
          <a:bodyPr vert="horz" lIns="91440" tIns="45720" rIns="91440" bIns="45720" rtlCol="0" anchor="b">
            <a:normAutofit/>
          </a:bodyPr>
          <a:lstStyle/>
          <a:p>
            <a:r>
              <a:rPr lang="en-US" sz="5200" dirty="0">
                <a:solidFill>
                  <a:schemeClr val="tx2"/>
                </a:solidFill>
              </a:rPr>
              <a:t>INTERFACE</a:t>
            </a:r>
          </a:p>
        </p:txBody>
      </p:sp>
      <p:sp>
        <p:nvSpPr>
          <p:cNvPr id="15" name="Rectangle 14">
            <a:extLst>
              <a:ext uri="{FF2B5EF4-FFF2-40B4-BE49-F238E27FC236}">
                <a16:creationId xmlns:a16="http://schemas.microsoft.com/office/drawing/2014/main" id="{392BFCFE-FD78-4EDF-BEFE-CC444DC5F3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578352"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7" name="Rectangle 16">
            <a:extLst>
              <a:ext uri="{FF2B5EF4-FFF2-40B4-BE49-F238E27FC236}">
                <a16:creationId xmlns:a16="http://schemas.microsoft.com/office/drawing/2014/main" id="{4572B5A9-5531-4FA5-8C90-295EFED8BF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7060" y="22493"/>
            <a:ext cx="3561292" cy="6830508"/>
          </a:xfrm>
          <a:prstGeom prst="rect">
            <a:avLst/>
          </a:prstGeom>
          <a:blipFill dpi="0" rotWithShape="1">
            <a:blip r:embed="rId3">
              <a:alphaModFix amt="40000"/>
              <a:duotone>
                <a:schemeClr val="accent1">
                  <a:shade val="45000"/>
                  <a:satMod val="135000"/>
                </a:schemeClr>
                <a:prstClr val="white"/>
              </a:duotone>
            </a:blip>
            <a:srcRect/>
            <a:tile tx="889000" ty="0" sx="100000" sy="100000" flip="xy" algn="t"/>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46991663"/>
      </p:ext>
    </p:extLst>
  </p:cSld>
  <p:clrMapOvr>
    <a:masterClrMapping/>
  </p:clrMapOvr>
  <p:transition spd="slow">
    <p:push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07CBA34-461E-EBBC-02EC-FA8B8C3D231D}"/>
              </a:ext>
            </a:extLst>
          </p:cNvPr>
          <p:cNvPicPr>
            <a:picLocks noChangeAspect="1"/>
          </p:cNvPicPr>
          <p:nvPr/>
        </p:nvPicPr>
        <p:blipFill>
          <a:blip r:embed="rId2"/>
          <a:stretch>
            <a:fillRect/>
          </a:stretch>
        </p:blipFill>
        <p:spPr>
          <a:xfrm>
            <a:off x="0" y="219134"/>
            <a:ext cx="12192000" cy="6451600"/>
          </a:xfrm>
          <a:prstGeom prst="rect">
            <a:avLst/>
          </a:prstGeom>
        </p:spPr>
      </p:pic>
      <p:sp>
        <p:nvSpPr>
          <p:cNvPr id="8" name="Flowchart: Terminator 7">
            <a:extLst>
              <a:ext uri="{FF2B5EF4-FFF2-40B4-BE49-F238E27FC236}">
                <a16:creationId xmlns:a16="http://schemas.microsoft.com/office/drawing/2014/main" id="{D9FD2ECC-04AD-E6FD-ADCD-CA0C823BD9FF}"/>
              </a:ext>
            </a:extLst>
          </p:cNvPr>
          <p:cNvSpPr/>
          <p:nvPr/>
        </p:nvSpPr>
        <p:spPr>
          <a:xfrm>
            <a:off x="2870791" y="372140"/>
            <a:ext cx="3455581" cy="967562"/>
          </a:xfrm>
          <a:prstGeom prst="flowChartTerminator">
            <a:avLst/>
          </a:prstGeom>
          <a:noFill/>
          <a:ln w="76200">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ro-RO"/>
          </a:p>
        </p:txBody>
      </p:sp>
      <p:sp>
        <p:nvSpPr>
          <p:cNvPr id="9" name="Arrow: Right 8">
            <a:extLst>
              <a:ext uri="{FF2B5EF4-FFF2-40B4-BE49-F238E27FC236}">
                <a16:creationId xmlns:a16="http://schemas.microsoft.com/office/drawing/2014/main" id="{45D65714-0F4D-A15A-4917-6B4013476DEB}"/>
              </a:ext>
            </a:extLst>
          </p:cNvPr>
          <p:cNvSpPr/>
          <p:nvPr/>
        </p:nvSpPr>
        <p:spPr>
          <a:xfrm>
            <a:off x="6326373" y="717698"/>
            <a:ext cx="1733106" cy="324294"/>
          </a:xfrm>
          <a:prstGeom prst="rightArrow">
            <a:avLst>
              <a:gd name="adj1" fmla="val 50000"/>
              <a:gd name="adj2" fmla="val 50000"/>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10" name="Rectangle 9">
            <a:extLst>
              <a:ext uri="{FF2B5EF4-FFF2-40B4-BE49-F238E27FC236}">
                <a16:creationId xmlns:a16="http://schemas.microsoft.com/office/drawing/2014/main" id="{47AC1539-BCEC-531A-2914-0D3AF022F182}"/>
              </a:ext>
            </a:extLst>
          </p:cNvPr>
          <p:cNvSpPr/>
          <p:nvPr/>
        </p:nvSpPr>
        <p:spPr>
          <a:xfrm>
            <a:off x="8059478" y="295533"/>
            <a:ext cx="3253563" cy="1754326"/>
          </a:xfrm>
          <a:prstGeom prst="rect">
            <a:avLst/>
          </a:prstGeom>
          <a:solidFill>
            <a:schemeClr val="bg1"/>
          </a:solidFill>
          <a:ln w="571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11" name="TextBox 10">
            <a:extLst>
              <a:ext uri="{FF2B5EF4-FFF2-40B4-BE49-F238E27FC236}">
                <a16:creationId xmlns:a16="http://schemas.microsoft.com/office/drawing/2014/main" id="{C00F7264-2410-53CB-77AF-C473BF6FBCD8}"/>
              </a:ext>
            </a:extLst>
          </p:cNvPr>
          <p:cNvSpPr txBox="1"/>
          <p:nvPr/>
        </p:nvSpPr>
        <p:spPr>
          <a:xfrm>
            <a:off x="8194159" y="348696"/>
            <a:ext cx="3019646" cy="1569660"/>
          </a:xfrm>
          <a:prstGeom prst="rect">
            <a:avLst/>
          </a:prstGeom>
          <a:noFill/>
        </p:spPr>
        <p:txBody>
          <a:bodyPr wrap="square" rtlCol="0">
            <a:spAutoFit/>
          </a:bodyPr>
          <a:lstStyle/>
          <a:p>
            <a:r>
              <a:rPr lang="en-US" sz="1600" dirty="0"/>
              <a:t>Menu bar that contains:</a:t>
            </a:r>
          </a:p>
          <a:p>
            <a:pPr marL="285750" indent="-285750">
              <a:buFontTx/>
              <a:buChar char="-"/>
            </a:pPr>
            <a:r>
              <a:rPr lang="en-US" sz="1600" dirty="0"/>
              <a:t>submenu with documentation in two formats</a:t>
            </a:r>
          </a:p>
          <a:p>
            <a:pPr marL="285750" indent="-285750">
              <a:buFontTx/>
              <a:buChar char="-"/>
            </a:pPr>
            <a:r>
              <a:rPr lang="en-US" sz="1600" dirty="0"/>
              <a:t>bibliography</a:t>
            </a:r>
          </a:p>
          <a:p>
            <a:pPr marL="285750" indent="-285750">
              <a:buFontTx/>
              <a:buChar char="-"/>
            </a:pPr>
            <a:r>
              <a:rPr lang="en-US" sz="1600" dirty="0"/>
              <a:t>close button “Out”</a:t>
            </a:r>
            <a:endParaRPr lang="ro-RO" sz="1600" dirty="0"/>
          </a:p>
        </p:txBody>
      </p:sp>
      <p:sp>
        <p:nvSpPr>
          <p:cNvPr id="12" name="Oval 11">
            <a:extLst>
              <a:ext uri="{FF2B5EF4-FFF2-40B4-BE49-F238E27FC236}">
                <a16:creationId xmlns:a16="http://schemas.microsoft.com/office/drawing/2014/main" id="{5AD5813A-40DD-C9F8-BBF8-9472C2063C2A}"/>
              </a:ext>
            </a:extLst>
          </p:cNvPr>
          <p:cNvSpPr/>
          <p:nvPr/>
        </p:nvSpPr>
        <p:spPr>
          <a:xfrm>
            <a:off x="1195422" y="1743740"/>
            <a:ext cx="1839433" cy="967562"/>
          </a:xfrm>
          <a:prstGeom prst="ellipse">
            <a:avLst/>
          </a:prstGeom>
          <a:solidFill>
            <a:schemeClr val="bg1"/>
          </a:solidFill>
          <a:ln w="2857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13" name="Arrow: Right 12">
            <a:extLst>
              <a:ext uri="{FF2B5EF4-FFF2-40B4-BE49-F238E27FC236}">
                <a16:creationId xmlns:a16="http://schemas.microsoft.com/office/drawing/2014/main" id="{D149383C-0D89-F4CB-0051-0873AA2A7EBB}"/>
              </a:ext>
            </a:extLst>
          </p:cNvPr>
          <p:cNvSpPr/>
          <p:nvPr/>
        </p:nvSpPr>
        <p:spPr>
          <a:xfrm rot="10336242">
            <a:off x="3050033" y="1930667"/>
            <a:ext cx="1163335" cy="304290"/>
          </a:xfrm>
          <a:prstGeom prst="rightArrow">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14" name="TextBox 13">
            <a:extLst>
              <a:ext uri="{FF2B5EF4-FFF2-40B4-BE49-F238E27FC236}">
                <a16:creationId xmlns:a16="http://schemas.microsoft.com/office/drawing/2014/main" id="{F45D0EA0-2AE1-A3D9-1B99-B6A5A395E534}"/>
              </a:ext>
            </a:extLst>
          </p:cNvPr>
          <p:cNvSpPr txBox="1"/>
          <p:nvPr/>
        </p:nvSpPr>
        <p:spPr>
          <a:xfrm>
            <a:off x="1357939" y="1904355"/>
            <a:ext cx="1514398" cy="646331"/>
          </a:xfrm>
          <a:prstGeom prst="rect">
            <a:avLst/>
          </a:prstGeom>
          <a:noFill/>
        </p:spPr>
        <p:txBody>
          <a:bodyPr wrap="square" rtlCol="0">
            <a:spAutoFit/>
          </a:bodyPr>
          <a:lstStyle/>
          <a:p>
            <a:pPr algn="ctr"/>
            <a:r>
              <a:rPr lang="en-US" dirty="0"/>
              <a:t>Text box for the title</a:t>
            </a:r>
            <a:endParaRPr lang="ro-RO" dirty="0"/>
          </a:p>
        </p:txBody>
      </p:sp>
      <p:sp>
        <p:nvSpPr>
          <p:cNvPr id="15" name="Oval 14">
            <a:extLst>
              <a:ext uri="{FF2B5EF4-FFF2-40B4-BE49-F238E27FC236}">
                <a16:creationId xmlns:a16="http://schemas.microsoft.com/office/drawing/2014/main" id="{49F8C64D-4E30-38E3-CE98-EC5DA2E76D5A}"/>
              </a:ext>
            </a:extLst>
          </p:cNvPr>
          <p:cNvSpPr/>
          <p:nvPr/>
        </p:nvSpPr>
        <p:spPr>
          <a:xfrm>
            <a:off x="5082363" y="5500053"/>
            <a:ext cx="1977656" cy="1105787"/>
          </a:xfrm>
          <a:prstGeom prst="ellipse">
            <a:avLst/>
          </a:prstGeom>
          <a:solidFill>
            <a:schemeClr val="bg1"/>
          </a:solidFill>
          <a:ln w="2857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16" name="Arrow: Right 15">
            <a:extLst>
              <a:ext uri="{FF2B5EF4-FFF2-40B4-BE49-F238E27FC236}">
                <a16:creationId xmlns:a16="http://schemas.microsoft.com/office/drawing/2014/main" id="{56DAFBC3-5037-3595-9175-AB0E7BA7A0CA}"/>
              </a:ext>
            </a:extLst>
          </p:cNvPr>
          <p:cNvSpPr/>
          <p:nvPr/>
        </p:nvSpPr>
        <p:spPr>
          <a:xfrm rot="5027548">
            <a:off x="5288040" y="5326367"/>
            <a:ext cx="460587" cy="156974"/>
          </a:xfrm>
          <a:prstGeom prst="rightArrow">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17" name="TextBox 16">
            <a:extLst>
              <a:ext uri="{FF2B5EF4-FFF2-40B4-BE49-F238E27FC236}">
                <a16:creationId xmlns:a16="http://schemas.microsoft.com/office/drawing/2014/main" id="{6856B90C-E179-013B-962C-CEF8C6C54AAB}"/>
              </a:ext>
            </a:extLst>
          </p:cNvPr>
          <p:cNvSpPr txBox="1"/>
          <p:nvPr/>
        </p:nvSpPr>
        <p:spPr>
          <a:xfrm>
            <a:off x="5126610" y="5737090"/>
            <a:ext cx="1889162" cy="646331"/>
          </a:xfrm>
          <a:prstGeom prst="rect">
            <a:avLst/>
          </a:prstGeom>
          <a:noFill/>
        </p:spPr>
        <p:txBody>
          <a:bodyPr wrap="square" rtlCol="0">
            <a:spAutoFit/>
          </a:bodyPr>
          <a:lstStyle/>
          <a:p>
            <a:pPr algn="ctr"/>
            <a:r>
              <a:rPr lang="en-US" dirty="0"/>
              <a:t>Text box for info about author</a:t>
            </a:r>
            <a:endParaRPr lang="ro-RO" dirty="0"/>
          </a:p>
        </p:txBody>
      </p:sp>
      <p:sp>
        <p:nvSpPr>
          <p:cNvPr id="18" name="Oval 17">
            <a:extLst>
              <a:ext uri="{FF2B5EF4-FFF2-40B4-BE49-F238E27FC236}">
                <a16:creationId xmlns:a16="http://schemas.microsoft.com/office/drawing/2014/main" id="{8C6FF7CE-51C9-0FF0-F16D-29C58B4FE06C}"/>
              </a:ext>
            </a:extLst>
          </p:cNvPr>
          <p:cNvSpPr/>
          <p:nvPr/>
        </p:nvSpPr>
        <p:spPr>
          <a:xfrm>
            <a:off x="9161722" y="3232298"/>
            <a:ext cx="2300176" cy="1575844"/>
          </a:xfrm>
          <a:prstGeom prst="ellipse">
            <a:avLst/>
          </a:prstGeom>
          <a:solidFill>
            <a:schemeClr val="bg1"/>
          </a:solidFill>
          <a:ln w="2857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19" name="Arrow: Down 18">
            <a:extLst>
              <a:ext uri="{FF2B5EF4-FFF2-40B4-BE49-F238E27FC236}">
                <a16:creationId xmlns:a16="http://schemas.microsoft.com/office/drawing/2014/main" id="{6E71C2BB-624C-3BB2-C487-06B3882D2A85}"/>
              </a:ext>
            </a:extLst>
          </p:cNvPr>
          <p:cNvSpPr/>
          <p:nvPr/>
        </p:nvSpPr>
        <p:spPr>
          <a:xfrm rot="10800000">
            <a:off x="10249786" y="4808142"/>
            <a:ext cx="205857" cy="474862"/>
          </a:xfrm>
          <a:prstGeom prst="downArrow">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20" name="TextBox 19">
            <a:extLst>
              <a:ext uri="{FF2B5EF4-FFF2-40B4-BE49-F238E27FC236}">
                <a16:creationId xmlns:a16="http://schemas.microsoft.com/office/drawing/2014/main" id="{90EB8D5E-68EE-2E55-E347-043E9857938D}"/>
              </a:ext>
            </a:extLst>
          </p:cNvPr>
          <p:cNvSpPr txBox="1"/>
          <p:nvPr/>
        </p:nvSpPr>
        <p:spPr>
          <a:xfrm>
            <a:off x="9374519" y="3477960"/>
            <a:ext cx="1956390" cy="1200329"/>
          </a:xfrm>
          <a:prstGeom prst="rect">
            <a:avLst/>
          </a:prstGeom>
          <a:noFill/>
        </p:spPr>
        <p:txBody>
          <a:bodyPr wrap="square" rtlCol="0">
            <a:spAutoFit/>
          </a:bodyPr>
          <a:lstStyle/>
          <a:p>
            <a:pPr algn="ctr"/>
            <a:r>
              <a:rPr lang="en-US" dirty="0"/>
              <a:t>Pushbuttons used to start/stop the music</a:t>
            </a:r>
            <a:endParaRPr lang="ro-RO" dirty="0"/>
          </a:p>
        </p:txBody>
      </p:sp>
      <p:sp>
        <p:nvSpPr>
          <p:cNvPr id="21" name="Oval 20">
            <a:extLst>
              <a:ext uri="{FF2B5EF4-FFF2-40B4-BE49-F238E27FC236}">
                <a16:creationId xmlns:a16="http://schemas.microsoft.com/office/drawing/2014/main" id="{C364DBAC-FDD2-3BF5-8921-713E726554D2}"/>
              </a:ext>
            </a:extLst>
          </p:cNvPr>
          <p:cNvSpPr/>
          <p:nvPr/>
        </p:nvSpPr>
        <p:spPr>
          <a:xfrm>
            <a:off x="1195421" y="2863568"/>
            <a:ext cx="1839433" cy="967562"/>
          </a:xfrm>
          <a:prstGeom prst="ellipse">
            <a:avLst/>
          </a:prstGeom>
          <a:solidFill>
            <a:schemeClr val="bg1"/>
          </a:solidFill>
          <a:ln w="2857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22" name="Oval 21">
            <a:extLst>
              <a:ext uri="{FF2B5EF4-FFF2-40B4-BE49-F238E27FC236}">
                <a16:creationId xmlns:a16="http://schemas.microsoft.com/office/drawing/2014/main" id="{1C2CE326-BA0F-92EC-55AF-BDF28DEACE5E}"/>
              </a:ext>
            </a:extLst>
          </p:cNvPr>
          <p:cNvSpPr/>
          <p:nvPr/>
        </p:nvSpPr>
        <p:spPr>
          <a:xfrm>
            <a:off x="1234333" y="4078011"/>
            <a:ext cx="1839433" cy="967562"/>
          </a:xfrm>
          <a:prstGeom prst="ellipse">
            <a:avLst/>
          </a:prstGeom>
          <a:solidFill>
            <a:schemeClr val="bg1"/>
          </a:solidFill>
          <a:ln w="2857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23" name="Oval 22">
            <a:extLst>
              <a:ext uri="{FF2B5EF4-FFF2-40B4-BE49-F238E27FC236}">
                <a16:creationId xmlns:a16="http://schemas.microsoft.com/office/drawing/2014/main" id="{D760FDE0-213B-8DB7-B0AE-DB5BC8F8C18F}"/>
              </a:ext>
            </a:extLst>
          </p:cNvPr>
          <p:cNvSpPr/>
          <p:nvPr/>
        </p:nvSpPr>
        <p:spPr>
          <a:xfrm>
            <a:off x="1195420" y="5283005"/>
            <a:ext cx="1839433" cy="967562"/>
          </a:xfrm>
          <a:prstGeom prst="ellipse">
            <a:avLst/>
          </a:prstGeom>
          <a:solidFill>
            <a:schemeClr val="bg1"/>
          </a:solidFill>
          <a:ln w="2857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24" name="Arrow: Right 23">
            <a:extLst>
              <a:ext uri="{FF2B5EF4-FFF2-40B4-BE49-F238E27FC236}">
                <a16:creationId xmlns:a16="http://schemas.microsoft.com/office/drawing/2014/main" id="{5C0C2FF4-20B4-47CB-B3AA-FB9965272F06}"/>
              </a:ext>
            </a:extLst>
          </p:cNvPr>
          <p:cNvSpPr/>
          <p:nvPr/>
        </p:nvSpPr>
        <p:spPr>
          <a:xfrm rot="10433753">
            <a:off x="3017363" y="3053708"/>
            <a:ext cx="1792306" cy="292591"/>
          </a:xfrm>
          <a:prstGeom prst="rightArrow">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25" name="Arrow: Right 24">
            <a:extLst>
              <a:ext uri="{FF2B5EF4-FFF2-40B4-BE49-F238E27FC236}">
                <a16:creationId xmlns:a16="http://schemas.microsoft.com/office/drawing/2014/main" id="{1132D66D-81FE-C753-1513-5ADFF1A0D9AD}"/>
              </a:ext>
            </a:extLst>
          </p:cNvPr>
          <p:cNvSpPr/>
          <p:nvPr/>
        </p:nvSpPr>
        <p:spPr>
          <a:xfrm rot="9390687">
            <a:off x="3001229" y="3896154"/>
            <a:ext cx="1861336" cy="270782"/>
          </a:xfrm>
          <a:prstGeom prst="rightArrow">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26" name="Arrow: Down 25">
            <a:extLst>
              <a:ext uri="{FF2B5EF4-FFF2-40B4-BE49-F238E27FC236}">
                <a16:creationId xmlns:a16="http://schemas.microsoft.com/office/drawing/2014/main" id="{EE40FF8C-FD2C-CEC0-74A6-4E9F88D50D04}"/>
              </a:ext>
            </a:extLst>
          </p:cNvPr>
          <p:cNvSpPr/>
          <p:nvPr/>
        </p:nvSpPr>
        <p:spPr>
          <a:xfrm rot="3569389">
            <a:off x="3673817" y="3842486"/>
            <a:ext cx="300798" cy="2179451"/>
          </a:xfrm>
          <a:prstGeom prst="downArrow">
            <a:avLst>
              <a:gd name="adj1" fmla="val 45007"/>
              <a:gd name="adj2" fmla="val 50000"/>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27" name="TextBox 26">
            <a:extLst>
              <a:ext uri="{FF2B5EF4-FFF2-40B4-BE49-F238E27FC236}">
                <a16:creationId xmlns:a16="http://schemas.microsoft.com/office/drawing/2014/main" id="{295B2E9F-1E14-F344-AE40-339C2722A39C}"/>
              </a:ext>
            </a:extLst>
          </p:cNvPr>
          <p:cNvSpPr txBox="1"/>
          <p:nvPr/>
        </p:nvSpPr>
        <p:spPr>
          <a:xfrm>
            <a:off x="1484199" y="2919357"/>
            <a:ext cx="1339703" cy="830997"/>
          </a:xfrm>
          <a:prstGeom prst="rect">
            <a:avLst/>
          </a:prstGeom>
          <a:noFill/>
        </p:spPr>
        <p:txBody>
          <a:bodyPr wrap="square" rtlCol="0">
            <a:spAutoFit/>
          </a:bodyPr>
          <a:lstStyle/>
          <a:p>
            <a:pPr algn="ctr"/>
            <a:r>
              <a:rPr lang="en-US" sz="1600" dirty="0"/>
              <a:t>Pushbutton to access the circuit</a:t>
            </a:r>
            <a:endParaRPr lang="ro-RO" sz="1600" dirty="0"/>
          </a:p>
        </p:txBody>
      </p:sp>
      <p:sp>
        <p:nvSpPr>
          <p:cNvPr id="28" name="TextBox 27">
            <a:extLst>
              <a:ext uri="{FF2B5EF4-FFF2-40B4-BE49-F238E27FC236}">
                <a16:creationId xmlns:a16="http://schemas.microsoft.com/office/drawing/2014/main" id="{75E21138-25B1-E5C6-2063-CE56281D317C}"/>
              </a:ext>
            </a:extLst>
          </p:cNvPr>
          <p:cNvSpPr txBox="1"/>
          <p:nvPr/>
        </p:nvSpPr>
        <p:spPr>
          <a:xfrm>
            <a:off x="1310068" y="4130871"/>
            <a:ext cx="1815030" cy="830997"/>
          </a:xfrm>
          <a:prstGeom prst="rect">
            <a:avLst/>
          </a:prstGeom>
          <a:noFill/>
        </p:spPr>
        <p:txBody>
          <a:bodyPr wrap="square" rtlCol="0">
            <a:spAutoFit/>
          </a:bodyPr>
          <a:lstStyle/>
          <a:p>
            <a:pPr algn="ctr"/>
            <a:r>
              <a:rPr lang="en-US" sz="1600" dirty="0"/>
              <a:t>Pushbutton to access the documentation</a:t>
            </a:r>
            <a:endParaRPr lang="ro-RO" sz="1600" dirty="0"/>
          </a:p>
        </p:txBody>
      </p:sp>
      <p:sp>
        <p:nvSpPr>
          <p:cNvPr id="29" name="TextBox 28">
            <a:extLst>
              <a:ext uri="{FF2B5EF4-FFF2-40B4-BE49-F238E27FC236}">
                <a16:creationId xmlns:a16="http://schemas.microsoft.com/office/drawing/2014/main" id="{57CE660D-EF5C-9901-20A8-F624477DB378}"/>
              </a:ext>
            </a:extLst>
          </p:cNvPr>
          <p:cNvSpPr txBox="1"/>
          <p:nvPr/>
        </p:nvSpPr>
        <p:spPr>
          <a:xfrm>
            <a:off x="1452949" y="5321591"/>
            <a:ext cx="1333087" cy="830997"/>
          </a:xfrm>
          <a:prstGeom prst="rect">
            <a:avLst/>
          </a:prstGeom>
          <a:noFill/>
        </p:spPr>
        <p:txBody>
          <a:bodyPr wrap="square" rtlCol="0">
            <a:spAutoFit/>
          </a:bodyPr>
          <a:lstStyle/>
          <a:p>
            <a:pPr algn="ctr"/>
            <a:r>
              <a:rPr lang="en-US" sz="1600" dirty="0"/>
              <a:t>Pushbutton that closes the menu</a:t>
            </a:r>
            <a:endParaRPr lang="ro-RO" sz="1600" dirty="0"/>
          </a:p>
        </p:txBody>
      </p:sp>
    </p:spTree>
    <p:extLst>
      <p:ext uri="{BB962C8B-B14F-4D97-AF65-F5344CB8AC3E}">
        <p14:creationId xmlns:p14="http://schemas.microsoft.com/office/powerpoint/2010/main" val="45834775"/>
      </p:ext>
    </p:extLst>
  </p:cSld>
  <p:clrMapOvr>
    <a:masterClrMapping/>
  </p:clrMapOvr>
  <p:transition spd="slow">
    <p:push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4773245-CDE9-DF7E-3B50-AA8626C0652D}"/>
              </a:ext>
            </a:extLst>
          </p:cNvPr>
          <p:cNvPicPr>
            <a:picLocks noChangeAspect="1"/>
          </p:cNvPicPr>
          <p:nvPr/>
        </p:nvPicPr>
        <p:blipFill>
          <a:blip r:embed="rId2"/>
          <a:stretch>
            <a:fillRect/>
          </a:stretch>
        </p:blipFill>
        <p:spPr>
          <a:xfrm>
            <a:off x="-7089" y="201439"/>
            <a:ext cx="12192000" cy="6477000"/>
          </a:xfrm>
          <a:prstGeom prst="rect">
            <a:avLst/>
          </a:prstGeom>
        </p:spPr>
      </p:pic>
      <p:sp>
        <p:nvSpPr>
          <p:cNvPr id="4" name="Oval 3">
            <a:extLst>
              <a:ext uri="{FF2B5EF4-FFF2-40B4-BE49-F238E27FC236}">
                <a16:creationId xmlns:a16="http://schemas.microsoft.com/office/drawing/2014/main" id="{7557FBC0-A5D5-595F-8F24-7EA65AC183AD}"/>
              </a:ext>
            </a:extLst>
          </p:cNvPr>
          <p:cNvSpPr/>
          <p:nvPr/>
        </p:nvSpPr>
        <p:spPr>
          <a:xfrm>
            <a:off x="297711" y="190500"/>
            <a:ext cx="1977655" cy="1244895"/>
          </a:xfrm>
          <a:prstGeom prst="ellipse">
            <a:avLst/>
          </a:prstGeom>
          <a:solidFill>
            <a:schemeClr val="bg1"/>
          </a:solidFill>
          <a:ln w="2857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5" name="TextBox 4">
            <a:extLst>
              <a:ext uri="{FF2B5EF4-FFF2-40B4-BE49-F238E27FC236}">
                <a16:creationId xmlns:a16="http://schemas.microsoft.com/office/drawing/2014/main" id="{3781D536-85A0-447B-EF9E-3747DEFAC66A}"/>
              </a:ext>
            </a:extLst>
          </p:cNvPr>
          <p:cNvSpPr txBox="1"/>
          <p:nvPr/>
        </p:nvSpPr>
        <p:spPr>
          <a:xfrm>
            <a:off x="377454" y="443615"/>
            <a:ext cx="1818168" cy="738664"/>
          </a:xfrm>
          <a:prstGeom prst="rect">
            <a:avLst/>
          </a:prstGeom>
          <a:noFill/>
        </p:spPr>
        <p:txBody>
          <a:bodyPr wrap="square" rtlCol="0">
            <a:spAutoFit/>
          </a:bodyPr>
          <a:lstStyle/>
          <a:p>
            <a:pPr algn="ctr"/>
            <a:r>
              <a:rPr lang="en-US" sz="1400" dirty="0" err="1"/>
              <a:t>Radiobutton</a:t>
            </a:r>
            <a:r>
              <a:rPr lang="en-US" sz="1400" dirty="0"/>
              <a:t> that, if pressed, reveals the electrical circuit</a:t>
            </a:r>
            <a:endParaRPr lang="ro-RO" sz="1400" dirty="0"/>
          </a:p>
        </p:txBody>
      </p:sp>
      <p:cxnSp>
        <p:nvCxnSpPr>
          <p:cNvPr id="7" name="Connector: Curved 6">
            <a:extLst>
              <a:ext uri="{FF2B5EF4-FFF2-40B4-BE49-F238E27FC236}">
                <a16:creationId xmlns:a16="http://schemas.microsoft.com/office/drawing/2014/main" id="{295F8032-B0C2-25E5-3677-14A790126EC4}"/>
              </a:ext>
            </a:extLst>
          </p:cNvPr>
          <p:cNvCxnSpPr>
            <a:cxnSpLocks/>
          </p:cNvCxnSpPr>
          <p:nvPr/>
        </p:nvCxnSpPr>
        <p:spPr>
          <a:xfrm>
            <a:off x="797441" y="1435394"/>
            <a:ext cx="404036" cy="253115"/>
          </a:xfrm>
          <a:prstGeom prst="curvedConnector3">
            <a:avLst/>
          </a:prstGeom>
          <a:ln w="28575">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291A3DBF-6995-2FFD-0EBE-2B9A7C93BBD0}"/>
              </a:ext>
            </a:extLst>
          </p:cNvPr>
          <p:cNvSpPr/>
          <p:nvPr/>
        </p:nvSpPr>
        <p:spPr>
          <a:xfrm>
            <a:off x="4267200" y="0"/>
            <a:ext cx="1977655" cy="922224"/>
          </a:xfrm>
          <a:prstGeom prst="ellipse">
            <a:avLst/>
          </a:prstGeom>
          <a:solidFill>
            <a:schemeClr val="bg1"/>
          </a:solidFill>
          <a:ln w="2857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cxnSp>
        <p:nvCxnSpPr>
          <p:cNvPr id="11" name="Straight Arrow Connector 10">
            <a:extLst>
              <a:ext uri="{FF2B5EF4-FFF2-40B4-BE49-F238E27FC236}">
                <a16:creationId xmlns:a16="http://schemas.microsoft.com/office/drawing/2014/main" id="{AED29F1D-CBC6-5B5F-C0B4-A9D399F5FE05}"/>
              </a:ext>
            </a:extLst>
          </p:cNvPr>
          <p:cNvCxnSpPr/>
          <p:nvPr/>
        </p:nvCxnSpPr>
        <p:spPr>
          <a:xfrm flipH="1">
            <a:off x="3763925" y="518043"/>
            <a:ext cx="606056" cy="0"/>
          </a:xfrm>
          <a:prstGeom prst="straightConnector1">
            <a:avLst/>
          </a:prstGeom>
          <a:ln w="28575">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98BAD62C-9B6C-4E74-E2FA-72978DC67E96}"/>
              </a:ext>
            </a:extLst>
          </p:cNvPr>
          <p:cNvSpPr txBox="1"/>
          <p:nvPr/>
        </p:nvSpPr>
        <p:spPr>
          <a:xfrm>
            <a:off x="4602124" y="91228"/>
            <a:ext cx="1307805" cy="830997"/>
          </a:xfrm>
          <a:prstGeom prst="rect">
            <a:avLst/>
          </a:prstGeom>
          <a:noFill/>
        </p:spPr>
        <p:txBody>
          <a:bodyPr wrap="square" rtlCol="0">
            <a:spAutoFit/>
          </a:bodyPr>
          <a:lstStyle/>
          <a:p>
            <a:pPr algn="ctr"/>
            <a:r>
              <a:rPr lang="en-US" sz="1600" dirty="0"/>
              <a:t>Same menu bar as before</a:t>
            </a:r>
            <a:endParaRPr lang="ro-RO" sz="1600" dirty="0"/>
          </a:p>
        </p:txBody>
      </p:sp>
      <p:sp>
        <p:nvSpPr>
          <p:cNvPr id="13" name="Oval 12">
            <a:extLst>
              <a:ext uri="{FF2B5EF4-FFF2-40B4-BE49-F238E27FC236}">
                <a16:creationId xmlns:a16="http://schemas.microsoft.com/office/drawing/2014/main" id="{1B242C73-E617-B552-3636-FBC7B54C9D2B}"/>
              </a:ext>
            </a:extLst>
          </p:cNvPr>
          <p:cNvSpPr/>
          <p:nvPr/>
        </p:nvSpPr>
        <p:spPr>
          <a:xfrm>
            <a:off x="2945219" y="922225"/>
            <a:ext cx="1860697" cy="830996"/>
          </a:xfrm>
          <a:prstGeom prst="ellipse">
            <a:avLst/>
          </a:prstGeom>
          <a:solidFill>
            <a:schemeClr val="bg1"/>
          </a:solidFill>
          <a:ln w="2857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cxnSp>
        <p:nvCxnSpPr>
          <p:cNvPr id="15" name="Straight Arrow Connector 14">
            <a:extLst>
              <a:ext uri="{FF2B5EF4-FFF2-40B4-BE49-F238E27FC236}">
                <a16:creationId xmlns:a16="http://schemas.microsoft.com/office/drawing/2014/main" id="{D991EE9E-ABC9-8FC9-C49A-1D57C0C28D30}"/>
              </a:ext>
            </a:extLst>
          </p:cNvPr>
          <p:cNvCxnSpPr/>
          <p:nvPr/>
        </p:nvCxnSpPr>
        <p:spPr>
          <a:xfrm>
            <a:off x="4805916" y="1326404"/>
            <a:ext cx="503275" cy="0"/>
          </a:xfrm>
          <a:prstGeom prst="straightConnector1">
            <a:avLst/>
          </a:prstGeom>
          <a:ln w="28575">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84996065-7D04-018E-7B0C-8401DDAEB551}"/>
              </a:ext>
            </a:extLst>
          </p:cNvPr>
          <p:cNvSpPr txBox="1"/>
          <p:nvPr/>
        </p:nvSpPr>
        <p:spPr>
          <a:xfrm>
            <a:off x="3174706" y="1021496"/>
            <a:ext cx="1401724" cy="584775"/>
          </a:xfrm>
          <a:prstGeom prst="rect">
            <a:avLst/>
          </a:prstGeom>
          <a:noFill/>
        </p:spPr>
        <p:txBody>
          <a:bodyPr wrap="square" rtlCol="0">
            <a:spAutoFit/>
          </a:bodyPr>
          <a:lstStyle/>
          <a:p>
            <a:pPr algn="ctr"/>
            <a:r>
              <a:rPr lang="en-US" sz="1600" dirty="0"/>
              <a:t>Text box for the title</a:t>
            </a:r>
            <a:endParaRPr lang="ro-RO" sz="1600" dirty="0"/>
          </a:p>
        </p:txBody>
      </p:sp>
      <p:sp>
        <p:nvSpPr>
          <p:cNvPr id="17" name="Oval 16">
            <a:extLst>
              <a:ext uri="{FF2B5EF4-FFF2-40B4-BE49-F238E27FC236}">
                <a16:creationId xmlns:a16="http://schemas.microsoft.com/office/drawing/2014/main" id="{1512F550-730B-D36D-1050-FDE8FA7B96AC}"/>
              </a:ext>
            </a:extLst>
          </p:cNvPr>
          <p:cNvSpPr/>
          <p:nvPr/>
        </p:nvSpPr>
        <p:spPr>
          <a:xfrm>
            <a:off x="377454" y="3923414"/>
            <a:ext cx="1977655" cy="1244895"/>
          </a:xfrm>
          <a:prstGeom prst="ellipse">
            <a:avLst/>
          </a:prstGeom>
          <a:solidFill>
            <a:schemeClr val="bg1"/>
          </a:solidFill>
          <a:ln w="2857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cxnSp>
        <p:nvCxnSpPr>
          <p:cNvPr id="19" name="Straight Arrow Connector 18">
            <a:extLst>
              <a:ext uri="{FF2B5EF4-FFF2-40B4-BE49-F238E27FC236}">
                <a16:creationId xmlns:a16="http://schemas.microsoft.com/office/drawing/2014/main" id="{B1F61BD2-5371-67F1-008E-D3282D62A913}"/>
              </a:ext>
            </a:extLst>
          </p:cNvPr>
          <p:cNvCxnSpPr/>
          <p:nvPr/>
        </p:nvCxnSpPr>
        <p:spPr>
          <a:xfrm flipV="1">
            <a:off x="2094614" y="3572540"/>
            <a:ext cx="260495" cy="499730"/>
          </a:xfrm>
          <a:prstGeom prst="straightConnector1">
            <a:avLst/>
          </a:prstGeom>
          <a:ln w="28575">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C442637F-5E6F-155D-A087-0AC65E28431A}"/>
              </a:ext>
            </a:extLst>
          </p:cNvPr>
          <p:cNvSpPr txBox="1"/>
          <p:nvPr/>
        </p:nvSpPr>
        <p:spPr>
          <a:xfrm>
            <a:off x="377454" y="4148820"/>
            <a:ext cx="1977655" cy="830997"/>
          </a:xfrm>
          <a:prstGeom prst="rect">
            <a:avLst/>
          </a:prstGeom>
          <a:noFill/>
        </p:spPr>
        <p:txBody>
          <a:bodyPr wrap="square" rtlCol="0">
            <a:spAutoFit/>
          </a:bodyPr>
          <a:lstStyle/>
          <a:p>
            <a:pPr algn="ctr"/>
            <a:r>
              <a:rPr lang="en-US" sz="1600" dirty="0"/>
              <a:t>Popup menu to select the type of graph we want</a:t>
            </a:r>
            <a:endParaRPr lang="ro-RO" sz="1600" dirty="0"/>
          </a:p>
        </p:txBody>
      </p:sp>
      <p:sp>
        <p:nvSpPr>
          <p:cNvPr id="21" name="Rectangle 20">
            <a:extLst>
              <a:ext uri="{FF2B5EF4-FFF2-40B4-BE49-F238E27FC236}">
                <a16:creationId xmlns:a16="http://schemas.microsoft.com/office/drawing/2014/main" id="{38177C41-B1CC-2A1E-35E9-D3ABBB11D47A}"/>
              </a:ext>
            </a:extLst>
          </p:cNvPr>
          <p:cNvSpPr/>
          <p:nvPr/>
        </p:nvSpPr>
        <p:spPr>
          <a:xfrm>
            <a:off x="8102009" y="5168309"/>
            <a:ext cx="2328531" cy="828454"/>
          </a:xfrm>
          <a:prstGeom prst="rect">
            <a:avLst/>
          </a:prstGeom>
          <a:solidFill>
            <a:schemeClr val="bg1"/>
          </a:solidFill>
          <a:ln w="2857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22" name="Rectangle 21">
            <a:extLst>
              <a:ext uri="{FF2B5EF4-FFF2-40B4-BE49-F238E27FC236}">
                <a16:creationId xmlns:a16="http://schemas.microsoft.com/office/drawing/2014/main" id="{E59B15AD-3341-BEC4-DF33-402DA7244D9B}"/>
              </a:ext>
            </a:extLst>
          </p:cNvPr>
          <p:cNvSpPr/>
          <p:nvPr/>
        </p:nvSpPr>
        <p:spPr>
          <a:xfrm>
            <a:off x="8102009" y="5996763"/>
            <a:ext cx="2328531" cy="776177"/>
          </a:xfrm>
          <a:prstGeom prst="rect">
            <a:avLst/>
          </a:prstGeom>
          <a:solidFill>
            <a:schemeClr val="bg1"/>
          </a:solidFill>
          <a:ln w="2857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dirty="0"/>
          </a:p>
        </p:txBody>
      </p:sp>
      <p:cxnSp>
        <p:nvCxnSpPr>
          <p:cNvPr id="24" name="Straight Arrow Connector 23">
            <a:extLst>
              <a:ext uri="{FF2B5EF4-FFF2-40B4-BE49-F238E27FC236}">
                <a16:creationId xmlns:a16="http://schemas.microsoft.com/office/drawing/2014/main" id="{53870044-5E41-1746-1E11-E8DDA686C629}"/>
              </a:ext>
            </a:extLst>
          </p:cNvPr>
          <p:cNvCxnSpPr/>
          <p:nvPr/>
        </p:nvCxnSpPr>
        <p:spPr>
          <a:xfrm>
            <a:off x="10430540" y="5443870"/>
            <a:ext cx="637953" cy="457200"/>
          </a:xfrm>
          <a:prstGeom prst="straightConnector1">
            <a:avLst/>
          </a:prstGeom>
          <a:ln w="28575">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1FDD9FFB-2A1B-DB96-B7CF-53C1E8DDF9F5}"/>
              </a:ext>
            </a:extLst>
          </p:cNvPr>
          <p:cNvCxnSpPr>
            <a:stCxn id="22" idx="3"/>
          </p:cNvCxnSpPr>
          <p:nvPr/>
        </p:nvCxnSpPr>
        <p:spPr>
          <a:xfrm flipV="1">
            <a:off x="10430540" y="6187263"/>
            <a:ext cx="637953" cy="197589"/>
          </a:xfrm>
          <a:prstGeom prst="straightConnector1">
            <a:avLst/>
          </a:prstGeom>
          <a:ln w="28575">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D859217-A7EE-A875-A688-0F6000A7EDDE}"/>
              </a:ext>
            </a:extLst>
          </p:cNvPr>
          <p:cNvSpPr txBox="1"/>
          <p:nvPr/>
        </p:nvSpPr>
        <p:spPr>
          <a:xfrm>
            <a:off x="8208334" y="5177670"/>
            <a:ext cx="2115879" cy="830997"/>
          </a:xfrm>
          <a:prstGeom prst="rect">
            <a:avLst/>
          </a:prstGeom>
          <a:noFill/>
        </p:spPr>
        <p:txBody>
          <a:bodyPr wrap="square" rtlCol="0">
            <a:spAutoFit/>
          </a:bodyPr>
          <a:lstStyle/>
          <a:p>
            <a:pPr algn="ctr"/>
            <a:r>
              <a:rPr lang="en-US" sz="1600" dirty="0"/>
              <a:t>Pushbutton that goes back to the “menu” interface</a:t>
            </a:r>
            <a:endParaRPr lang="ro-RO" sz="1600" dirty="0"/>
          </a:p>
        </p:txBody>
      </p:sp>
      <p:sp>
        <p:nvSpPr>
          <p:cNvPr id="28" name="TextBox 27">
            <a:extLst>
              <a:ext uri="{FF2B5EF4-FFF2-40B4-BE49-F238E27FC236}">
                <a16:creationId xmlns:a16="http://schemas.microsoft.com/office/drawing/2014/main" id="{84A62AF2-C966-93AC-31EB-C7B94D845CBE}"/>
              </a:ext>
            </a:extLst>
          </p:cNvPr>
          <p:cNvSpPr txBox="1"/>
          <p:nvPr/>
        </p:nvSpPr>
        <p:spPr>
          <a:xfrm>
            <a:off x="8330607" y="5969352"/>
            <a:ext cx="1871331" cy="830997"/>
          </a:xfrm>
          <a:prstGeom prst="rect">
            <a:avLst/>
          </a:prstGeom>
          <a:noFill/>
        </p:spPr>
        <p:txBody>
          <a:bodyPr wrap="square" rtlCol="0">
            <a:spAutoFit/>
          </a:bodyPr>
          <a:lstStyle/>
          <a:p>
            <a:pPr algn="ctr"/>
            <a:r>
              <a:rPr lang="en-US" sz="1600" dirty="0"/>
              <a:t>Pushbutton that closes the interface</a:t>
            </a:r>
            <a:endParaRPr lang="ro-RO" sz="1600" dirty="0"/>
          </a:p>
        </p:txBody>
      </p:sp>
      <p:sp>
        <p:nvSpPr>
          <p:cNvPr id="29" name="Oval 28">
            <a:extLst>
              <a:ext uri="{FF2B5EF4-FFF2-40B4-BE49-F238E27FC236}">
                <a16:creationId xmlns:a16="http://schemas.microsoft.com/office/drawing/2014/main" id="{44BDCC8E-7666-3C22-DB73-787A75E8366C}"/>
              </a:ext>
            </a:extLst>
          </p:cNvPr>
          <p:cNvSpPr/>
          <p:nvPr/>
        </p:nvSpPr>
        <p:spPr>
          <a:xfrm>
            <a:off x="4054549" y="3135728"/>
            <a:ext cx="2190306" cy="1529526"/>
          </a:xfrm>
          <a:prstGeom prst="ellipse">
            <a:avLst/>
          </a:prstGeom>
          <a:solidFill>
            <a:schemeClr val="bg1"/>
          </a:solidFill>
          <a:ln w="2857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30" name="Oval 29">
            <a:extLst>
              <a:ext uri="{FF2B5EF4-FFF2-40B4-BE49-F238E27FC236}">
                <a16:creationId xmlns:a16="http://schemas.microsoft.com/office/drawing/2014/main" id="{DD50DEC0-8F36-8F4E-4393-22F071D46A41}"/>
              </a:ext>
            </a:extLst>
          </p:cNvPr>
          <p:cNvSpPr/>
          <p:nvPr/>
        </p:nvSpPr>
        <p:spPr>
          <a:xfrm>
            <a:off x="6390165" y="3232604"/>
            <a:ext cx="2034363" cy="1126847"/>
          </a:xfrm>
          <a:prstGeom prst="ellipse">
            <a:avLst/>
          </a:prstGeom>
          <a:solidFill>
            <a:schemeClr val="bg1"/>
          </a:solidFill>
          <a:ln w="2857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cxnSp>
        <p:nvCxnSpPr>
          <p:cNvPr id="32" name="Connector: Curved 31">
            <a:extLst>
              <a:ext uri="{FF2B5EF4-FFF2-40B4-BE49-F238E27FC236}">
                <a16:creationId xmlns:a16="http://schemas.microsoft.com/office/drawing/2014/main" id="{A454E354-02E9-0C39-2167-00DFE677B6DE}"/>
              </a:ext>
            </a:extLst>
          </p:cNvPr>
          <p:cNvCxnSpPr/>
          <p:nvPr/>
        </p:nvCxnSpPr>
        <p:spPr>
          <a:xfrm rot="5400000" flipH="1" flipV="1">
            <a:off x="4442926" y="2419505"/>
            <a:ext cx="946605" cy="679596"/>
          </a:xfrm>
          <a:prstGeom prst="curvedConnector3">
            <a:avLst/>
          </a:prstGeom>
          <a:ln w="28575">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AF6BF3DF-233F-2E9B-194A-689192233B3C}"/>
              </a:ext>
            </a:extLst>
          </p:cNvPr>
          <p:cNvCxnSpPr/>
          <p:nvPr/>
        </p:nvCxnSpPr>
        <p:spPr>
          <a:xfrm flipH="1" flipV="1">
            <a:off x="7527851" y="2906060"/>
            <a:ext cx="489098" cy="415499"/>
          </a:xfrm>
          <a:prstGeom prst="straightConnector1">
            <a:avLst/>
          </a:prstGeom>
          <a:ln w="28575">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D5A40065-B3E6-E2D3-E136-6BD31F721AE2}"/>
              </a:ext>
            </a:extLst>
          </p:cNvPr>
          <p:cNvSpPr txBox="1"/>
          <p:nvPr/>
        </p:nvSpPr>
        <p:spPr>
          <a:xfrm>
            <a:off x="4161770" y="3352754"/>
            <a:ext cx="1977654" cy="1323439"/>
          </a:xfrm>
          <a:prstGeom prst="rect">
            <a:avLst/>
          </a:prstGeom>
          <a:noFill/>
        </p:spPr>
        <p:txBody>
          <a:bodyPr wrap="square" rtlCol="0">
            <a:spAutoFit/>
          </a:bodyPr>
          <a:lstStyle/>
          <a:p>
            <a:pPr algn="ctr"/>
            <a:r>
              <a:rPr lang="en-US" sz="1600" dirty="0"/>
              <a:t>Slider for number of periods (between 0 and 10) (activated by checkbox</a:t>
            </a:r>
            <a:endParaRPr lang="ro-RO" sz="1600" dirty="0"/>
          </a:p>
        </p:txBody>
      </p:sp>
      <p:sp>
        <p:nvSpPr>
          <p:cNvPr id="36" name="TextBox 35">
            <a:extLst>
              <a:ext uri="{FF2B5EF4-FFF2-40B4-BE49-F238E27FC236}">
                <a16:creationId xmlns:a16="http://schemas.microsoft.com/office/drawing/2014/main" id="{AEDD55AB-F723-A354-D50C-5BFACBBC2ABF}"/>
              </a:ext>
            </a:extLst>
          </p:cNvPr>
          <p:cNvSpPr txBox="1"/>
          <p:nvPr/>
        </p:nvSpPr>
        <p:spPr>
          <a:xfrm>
            <a:off x="6530166" y="3425006"/>
            <a:ext cx="1818167" cy="830997"/>
          </a:xfrm>
          <a:prstGeom prst="rect">
            <a:avLst/>
          </a:prstGeom>
          <a:noFill/>
        </p:spPr>
        <p:txBody>
          <a:bodyPr wrap="square" rtlCol="0">
            <a:spAutoFit/>
          </a:bodyPr>
          <a:lstStyle/>
          <a:p>
            <a:pPr algn="ctr"/>
            <a:r>
              <a:rPr lang="en-US" sz="1600" dirty="0"/>
              <a:t>Text and edit box for f (activated by checkbox)</a:t>
            </a:r>
            <a:endParaRPr lang="ro-RO" sz="1600" dirty="0"/>
          </a:p>
        </p:txBody>
      </p:sp>
      <p:sp>
        <p:nvSpPr>
          <p:cNvPr id="37" name="Oval 36">
            <a:extLst>
              <a:ext uri="{FF2B5EF4-FFF2-40B4-BE49-F238E27FC236}">
                <a16:creationId xmlns:a16="http://schemas.microsoft.com/office/drawing/2014/main" id="{B9BD8B0A-135E-CDF8-4828-4F0ED40B9A74}"/>
              </a:ext>
            </a:extLst>
          </p:cNvPr>
          <p:cNvSpPr/>
          <p:nvPr/>
        </p:nvSpPr>
        <p:spPr>
          <a:xfrm>
            <a:off x="7985053" y="85061"/>
            <a:ext cx="3604436" cy="1350334"/>
          </a:xfrm>
          <a:prstGeom prst="ellipse">
            <a:avLst/>
          </a:prstGeom>
          <a:solidFill>
            <a:schemeClr val="bg1"/>
          </a:solidFill>
          <a:ln w="2857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cxnSp>
        <p:nvCxnSpPr>
          <p:cNvPr id="39" name="Connector: Curved 38">
            <a:extLst>
              <a:ext uri="{FF2B5EF4-FFF2-40B4-BE49-F238E27FC236}">
                <a16:creationId xmlns:a16="http://schemas.microsoft.com/office/drawing/2014/main" id="{6762B132-AC2C-6368-74B4-2F8ED6FE3DCE}"/>
              </a:ext>
            </a:extLst>
          </p:cNvPr>
          <p:cNvCxnSpPr/>
          <p:nvPr/>
        </p:nvCxnSpPr>
        <p:spPr>
          <a:xfrm>
            <a:off x="8236687" y="1182279"/>
            <a:ext cx="854150" cy="591857"/>
          </a:xfrm>
          <a:prstGeom prst="curvedConnector3">
            <a:avLst/>
          </a:prstGeom>
          <a:ln w="28575">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9E1E6048-3F08-9285-968B-FCB2469DE465}"/>
              </a:ext>
            </a:extLst>
          </p:cNvPr>
          <p:cNvSpPr txBox="1"/>
          <p:nvPr/>
        </p:nvSpPr>
        <p:spPr>
          <a:xfrm>
            <a:off x="8358966" y="316185"/>
            <a:ext cx="2806995" cy="923330"/>
          </a:xfrm>
          <a:prstGeom prst="rect">
            <a:avLst/>
          </a:prstGeom>
          <a:noFill/>
        </p:spPr>
        <p:txBody>
          <a:bodyPr wrap="square" rtlCol="0">
            <a:spAutoFit/>
          </a:bodyPr>
          <a:lstStyle/>
          <a:p>
            <a:pPr algn="ctr"/>
            <a:r>
              <a:rPr lang="en-US" dirty="0"/>
              <a:t>Checkbox that shows text and edit boxes for values of R,L,C,E</a:t>
            </a:r>
            <a:endParaRPr lang="ro-RO" dirty="0"/>
          </a:p>
        </p:txBody>
      </p:sp>
    </p:spTree>
    <p:extLst>
      <p:ext uri="{BB962C8B-B14F-4D97-AF65-F5344CB8AC3E}">
        <p14:creationId xmlns:p14="http://schemas.microsoft.com/office/powerpoint/2010/main" val="180098082"/>
      </p:ext>
    </p:extLst>
  </p:cSld>
  <p:clrMapOvr>
    <a:masterClrMapping/>
  </p:clrMapOvr>
  <p:transition spd="slow">
    <p:push dir="u"/>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9" name="Picture 8">
            <a:extLst>
              <a:ext uri="{FF2B5EF4-FFF2-40B4-BE49-F238E27FC236}">
                <a16:creationId xmlns:a16="http://schemas.microsoft.com/office/drawing/2014/main" id="{1CB7E8AE-A3AC-4BB7-A5C6-F00EC697B2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1" name="Rectangle 10">
            <a:extLst>
              <a:ext uri="{FF2B5EF4-FFF2-40B4-BE49-F238E27FC236}">
                <a16:creationId xmlns:a16="http://schemas.microsoft.com/office/drawing/2014/main" id="{2D924463-4DB7-437D-85B1-7EE5042DE5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3" name="Rectangle 12">
            <a:extLst>
              <a:ext uri="{FF2B5EF4-FFF2-40B4-BE49-F238E27FC236}">
                <a16:creationId xmlns:a16="http://schemas.microsoft.com/office/drawing/2014/main" id="{9F108545-2EA9-4B3E-915B-2959496080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2" name="Title 1">
            <a:extLst>
              <a:ext uri="{FF2B5EF4-FFF2-40B4-BE49-F238E27FC236}">
                <a16:creationId xmlns:a16="http://schemas.microsoft.com/office/drawing/2014/main" id="{603CA018-3F99-D1E1-6DD3-9FA85BE5BA9A}"/>
              </a:ext>
            </a:extLst>
          </p:cNvPr>
          <p:cNvSpPr>
            <a:spLocks noGrp="1"/>
          </p:cNvSpPr>
          <p:nvPr>
            <p:ph type="title"/>
          </p:nvPr>
        </p:nvSpPr>
        <p:spPr>
          <a:xfrm>
            <a:off x="4495799" y="744909"/>
            <a:ext cx="6858000" cy="3155419"/>
          </a:xfrm>
        </p:spPr>
        <p:txBody>
          <a:bodyPr vert="horz" lIns="91440" tIns="45720" rIns="91440" bIns="45720" rtlCol="0" anchor="b">
            <a:normAutofit/>
          </a:bodyPr>
          <a:lstStyle/>
          <a:p>
            <a:r>
              <a:rPr lang="en-US" sz="5200" dirty="0">
                <a:solidFill>
                  <a:schemeClr val="tx2"/>
                </a:solidFill>
              </a:rPr>
              <a:t>BIBLIOGRAPHY</a:t>
            </a:r>
          </a:p>
        </p:txBody>
      </p:sp>
      <p:sp>
        <p:nvSpPr>
          <p:cNvPr id="15" name="Rectangle 14">
            <a:extLst>
              <a:ext uri="{FF2B5EF4-FFF2-40B4-BE49-F238E27FC236}">
                <a16:creationId xmlns:a16="http://schemas.microsoft.com/office/drawing/2014/main" id="{392BFCFE-FD78-4EDF-BEFE-CC444DC5F3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578352"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7" name="Rectangle 16">
            <a:extLst>
              <a:ext uri="{FF2B5EF4-FFF2-40B4-BE49-F238E27FC236}">
                <a16:creationId xmlns:a16="http://schemas.microsoft.com/office/drawing/2014/main" id="{4572B5A9-5531-4FA5-8C90-295EFED8BF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7060" y="22493"/>
            <a:ext cx="3561292" cy="6830508"/>
          </a:xfrm>
          <a:prstGeom prst="rect">
            <a:avLst/>
          </a:prstGeom>
          <a:blipFill dpi="0" rotWithShape="1">
            <a:blip r:embed="rId3">
              <a:alphaModFix amt="40000"/>
              <a:duotone>
                <a:schemeClr val="accent1">
                  <a:shade val="45000"/>
                  <a:satMod val="135000"/>
                </a:schemeClr>
                <a:prstClr val="white"/>
              </a:duotone>
            </a:blip>
            <a:srcRect/>
            <a:tile tx="889000" ty="0" sx="100000" sy="100000" flip="xy" algn="t"/>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449385926"/>
      </p:ext>
    </p:extLst>
  </p:cSld>
  <p:clrMapOvr>
    <a:masterClrMapping/>
  </p:clrMapOvr>
  <p:transition spd="slow">
    <p:push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E56870-10EF-5323-E94C-6817EA73901B}"/>
              </a:ext>
            </a:extLst>
          </p:cNvPr>
          <p:cNvSpPr>
            <a:spLocks noGrp="1"/>
          </p:cNvSpPr>
          <p:nvPr>
            <p:ph idx="1"/>
          </p:nvPr>
        </p:nvSpPr>
        <p:spPr>
          <a:xfrm>
            <a:off x="838200" y="1120111"/>
            <a:ext cx="10515600" cy="4461982"/>
          </a:xfrm>
        </p:spPr>
        <p:txBody>
          <a:bodyPr>
            <a:normAutofit fontScale="92500" lnSpcReduction="20000"/>
          </a:bodyPr>
          <a:lstStyle/>
          <a:p>
            <a:pPr marL="0" marR="0" algn="ctr">
              <a:lnSpc>
                <a:spcPct val="115000"/>
              </a:lnSpc>
              <a:spcAft>
                <a:spcPts val="800"/>
              </a:spcAft>
            </a:pPr>
            <a:r>
              <a:rPr lang="en-US" sz="1800" b="1" kern="100" dirty="0">
                <a:effectLst/>
                <a:ea typeface="Aptos" panose="020B0004020202020204" pitchFamily="34" charset="0"/>
                <a:cs typeface="Times New Roman" panose="02020603050405020304" pitchFamily="18" charset="0"/>
              </a:rPr>
              <a:t> </a:t>
            </a:r>
            <a:endParaRPr lang="ro-RO" sz="1800" kern="100" dirty="0">
              <a:effectLst/>
              <a:ea typeface="Aptos" panose="020B0004020202020204" pitchFamily="34" charset="0"/>
              <a:cs typeface="Times New Roman" panose="02020603050405020304" pitchFamily="18" charset="0"/>
            </a:endParaRPr>
          </a:p>
          <a:p>
            <a:pPr marL="342900" marR="0" lvl="0" indent="-342900">
              <a:lnSpc>
                <a:spcPct val="115000"/>
              </a:lnSpc>
              <a:buFont typeface="Times New Roman" panose="02020603050405020304" pitchFamily="18" charset="0"/>
              <a:buAutoNum type="arabicPeriod"/>
            </a:pPr>
            <a:r>
              <a:rPr lang="en-US" sz="1800" kern="100" dirty="0">
                <a:effectLst/>
                <a:ea typeface="Aptos" panose="020B0004020202020204" pitchFamily="34" charset="0"/>
                <a:cs typeface="Times New Roman" panose="02020603050405020304" pitchFamily="18" charset="0"/>
              </a:rPr>
              <a:t>Laboratory  “Computer Aided Graphics”  -  Conf. Dr. Ing. Mihaela C</a:t>
            </a:r>
            <a:r>
              <a:rPr lang="ro-RO" sz="1800" kern="100" dirty="0">
                <a:effectLst/>
                <a:ea typeface="Aptos" panose="020B0004020202020204" pitchFamily="34" charset="0"/>
                <a:cs typeface="Times New Roman" panose="02020603050405020304" pitchFamily="18" charset="0"/>
              </a:rPr>
              <a:t>îrlugea</a:t>
            </a:r>
          </a:p>
          <a:p>
            <a:pPr marL="342900" marR="0" lvl="0" indent="-342900">
              <a:lnSpc>
                <a:spcPct val="115000"/>
              </a:lnSpc>
              <a:buFont typeface="Times New Roman" panose="02020603050405020304" pitchFamily="18" charset="0"/>
              <a:buAutoNum type="arabicPeriod"/>
            </a:pPr>
            <a:r>
              <a:rPr lang="en-US" sz="1800" kern="100" dirty="0">
                <a:effectLst/>
                <a:ea typeface="Aptos" panose="020B0004020202020204" pitchFamily="34" charset="0"/>
                <a:cs typeface="Times New Roman" panose="02020603050405020304" pitchFamily="18" charset="0"/>
              </a:rPr>
              <a:t>Course “Electronic Devices” - </a:t>
            </a:r>
            <a:r>
              <a:rPr lang="ro-RO" sz="1800" kern="100" dirty="0">
                <a:effectLst/>
                <a:ea typeface="Aptos" panose="020B0004020202020204" pitchFamily="34" charset="0"/>
                <a:cs typeface="Times New Roman" panose="02020603050405020304" pitchFamily="18" charset="0"/>
              </a:rPr>
              <a:t>Ș. L. Dr. Ing. Laura Ivanciu</a:t>
            </a:r>
          </a:p>
          <a:p>
            <a:pPr marL="342900" marR="0" lvl="0" indent="-342900">
              <a:lnSpc>
                <a:spcPct val="115000"/>
              </a:lnSpc>
              <a:buFont typeface="Times New Roman" panose="02020603050405020304" pitchFamily="18" charset="0"/>
              <a:buAutoNum type="arabicPeriod"/>
            </a:pPr>
            <a:r>
              <a:rPr lang="en-US" sz="1800" kern="100" dirty="0">
                <a:effectLst/>
                <a:ea typeface="Aptos" panose="020B0004020202020204" pitchFamily="34" charset="0"/>
                <a:cs typeface="Times New Roman" panose="02020603050405020304" pitchFamily="18" charset="0"/>
              </a:rPr>
              <a:t>“</a:t>
            </a:r>
            <a:r>
              <a:rPr lang="en-US" sz="1800" kern="100" dirty="0" err="1">
                <a:effectLst/>
                <a:ea typeface="Aptos" panose="020B0004020202020204" pitchFamily="34" charset="0"/>
                <a:cs typeface="Times New Roman" panose="02020603050405020304" pitchFamily="18" charset="0"/>
              </a:rPr>
              <a:t>Matlab</a:t>
            </a:r>
            <a:r>
              <a:rPr lang="en-US" sz="1800" kern="100" dirty="0">
                <a:effectLst/>
                <a:ea typeface="Aptos" panose="020B0004020202020204" pitchFamily="34" charset="0"/>
                <a:cs typeface="Times New Roman" panose="02020603050405020304" pitchFamily="18" charset="0"/>
              </a:rPr>
              <a:t> for students” - Conf. Dr. Ing. Mihaela C</a:t>
            </a:r>
            <a:r>
              <a:rPr lang="ro-RO" sz="1800" kern="100" dirty="0">
                <a:effectLst/>
                <a:ea typeface="Aptos" panose="020B0004020202020204" pitchFamily="34" charset="0"/>
                <a:cs typeface="Times New Roman" panose="02020603050405020304" pitchFamily="18" charset="0"/>
              </a:rPr>
              <a:t>îrlugea</a:t>
            </a:r>
          </a:p>
          <a:p>
            <a:pPr marL="342900" marR="0" lvl="0" indent="-342900">
              <a:lnSpc>
                <a:spcPct val="115000"/>
              </a:lnSpc>
              <a:buFont typeface="Times New Roman" panose="02020603050405020304" pitchFamily="18" charset="0"/>
              <a:buAutoNum type="arabicPeriod"/>
            </a:pPr>
            <a:r>
              <a:rPr lang="en-US" sz="1800" kern="100" dirty="0">
                <a:effectLst/>
                <a:ea typeface="Aptos" panose="020B0004020202020204" pitchFamily="34" charset="0"/>
                <a:cs typeface="Times New Roman" panose="02020603050405020304" pitchFamily="18" charset="0"/>
              </a:rPr>
              <a:t>“</a:t>
            </a:r>
            <a:r>
              <a:rPr lang="en-US" sz="1800" kern="100" dirty="0" err="1">
                <a:effectLst/>
                <a:ea typeface="Aptos" panose="020B0004020202020204" pitchFamily="34" charset="0"/>
                <a:cs typeface="Times New Roman" panose="02020603050405020304" pitchFamily="18" charset="0"/>
              </a:rPr>
              <a:t>Matlab</a:t>
            </a:r>
            <a:r>
              <a:rPr lang="en-US" sz="1800" kern="100" dirty="0">
                <a:effectLst/>
                <a:ea typeface="Aptos" panose="020B0004020202020204" pitchFamily="34" charset="0"/>
                <a:cs typeface="Times New Roman" panose="02020603050405020304" pitchFamily="18" charset="0"/>
              </a:rPr>
              <a:t> for </a:t>
            </a:r>
            <a:r>
              <a:rPr lang="en-US" sz="1800" kern="100" dirty="0" err="1">
                <a:effectLst/>
                <a:ea typeface="Aptos" panose="020B0004020202020204" pitchFamily="34" charset="0"/>
                <a:cs typeface="Times New Roman" panose="02020603050405020304" pitchFamily="18" charset="0"/>
              </a:rPr>
              <a:t>students.GUI</a:t>
            </a:r>
            <a:r>
              <a:rPr lang="en-US" sz="1800" kern="100" dirty="0">
                <a:effectLst/>
                <a:ea typeface="Aptos" panose="020B0004020202020204" pitchFamily="34" charset="0"/>
                <a:cs typeface="Times New Roman" panose="02020603050405020304" pitchFamily="18" charset="0"/>
              </a:rPr>
              <a:t>” - Conf. Dr. Ing. Mihaela C</a:t>
            </a:r>
            <a:r>
              <a:rPr lang="ro-RO" sz="1800" kern="100" dirty="0">
                <a:effectLst/>
                <a:ea typeface="Aptos" panose="020B0004020202020204" pitchFamily="34" charset="0"/>
                <a:cs typeface="Times New Roman" panose="02020603050405020304" pitchFamily="18" charset="0"/>
              </a:rPr>
              <a:t>îrlugea</a:t>
            </a:r>
          </a:p>
          <a:p>
            <a:pPr marL="342900" marR="0" lvl="0" indent="-342900">
              <a:lnSpc>
                <a:spcPct val="115000"/>
              </a:lnSpc>
              <a:buFont typeface="Times New Roman" panose="02020603050405020304" pitchFamily="18" charset="0"/>
              <a:buAutoNum type="arabicPeriod"/>
            </a:pPr>
            <a:r>
              <a:rPr lang="en-US" sz="1800" kern="100" dirty="0">
                <a:ea typeface="Aptos" panose="020B0004020202020204" pitchFamily="34" charset="0"/>
                <a:cs typeface="Times New Roman" panose="02020603050405020304" pitchFamily="18" charset="0"/>
              </a:rPr>
              <a:t>https://www.mathworks.com/help/matlab/index.html</a:t>
            </a:r>
            <a:endParaRPr lang="ro-RO" sz="1800" kern="100" dirty="0">
              <a:effectLst/>
              <a:ea typeface="Aptos" panose="020B0004020202020204" pitchFamily="34" charset="0"/>
              <a:cs typeface="Times New Roman" panose="02020603050405020304" pitchFamily="18" charset="0"/>
            </a:endParaRPr>
          </a:p>
          <a:p>
            <a:pPr marL="342900" marR="0" lvl="0" indent="-342900">
              <a:lnSpc>
                <a:spcPct val="115000"/>
              </a:lnSpc>
              <a:buFont typeface="Times New Roman" panose="02020603050405020304" pitchFamily="18" charset="0"/>
              <a:buAutoNum type="arabicPeriod"/>
            </a:pPr>
            <a:r>
              <a:rPr lang="en-US" sz="1800" kern="100" dirty="0">
                <a:ea typeface="Aptos" panose="020B0004020202020204" pitchFamily="34" charset="0"/>
                <a:cs typeface="Times New Roman" panose="02020603050405020304" pitchFamily="18" charset="0"/>
              </a:rPr>
              <a:t>https://htmlcolorcodes.com/</a:t>
            </a:r>
            <a:endParaRPr lang="ro-RO" sz="1800" kern="100" dirty="0">
              <a:effectLst/>
              <a:ea typeface="Aptos" panose="020B0004020202020204" pitchFamily="34" charset="0"/>
              <a:cs typeface="Times New Roman" panose="02020603050405020304" pitchFamily="18" charset="0"/>
            </a:endParaRPr>
          </a:p>
          <a:p>
            <a:pPr marL="342900" marR="0" lvl="0" indent="-342900">
              <a:lnSpc>
                <a:spcPct val="115000"/>
              </a:lnSpc>
              <a:buFont typeface="Times New Roman" panose="02020603050405020304" pitchFamily="18" charset="0"/>
              <a:buAutoNum type="arabicPeriod"/>
            </a:pPr>
            <a:r>
              <a:rPr lang="en-US" sz="1800" kern="100" dirty="0">
                <a:ea typeface="Aptos" panose="020B0004020202020204" pitchFamily="34" charset="0"/>
                <a:cs typeface="Times New Roman" panose="02020603050405020304" pitchFamily="18" charset="0"/>
              </a:rPr>
              <a:t>https://www.electronics-tutorials.ws/accircuits/parallel-circuit.html</a:t>
            </a:r>
            <a:endParaRPr lang="ro-RO" sz="1800" kern="100" dirty="0">
              <a:effectLst/>
              <a:ea typeface="Aptos" panose="020B0004020202020204" pitchFamily="34" charset="0"/>
              <a:cs typeface="Times New Roman" panose="02020603050405020304" pitchFamily="18" charset="0"/>
            </a:endParaRPr>
          </a:p>
          <a:p>
            <a:pPr marL="342900" marR="0" lvl="0" indent="-342900">
              <a:lnSpc>
                <a:spcPct val="115000"/>
              </a:lnSpc>
              <a:spcAft>
                <a:spcPts val="800"/>
              </a:spcAft>
              <a:buFont typeface="Times New Roman" panose="02020603050405020304" pitchFamily="18" charset="0"/>
              <a:buAutoNum type="arabicPeriod"/>
            </a:pPr>
            <a:r>
              <a:rPr lang="en-US" sz="1800" kern="100" dirty="0">
                <a:ea typeface="Aptos" panose="020B0004020202020204" pitchFamily="34" charset="0"/>
                <a:cs typeface="Times New Roman" panose="02020603050405020304" pitchFamily="18" charset="0"/>
              </a:rPr>
              <a:t>https://en.wikipedia.org/wiki/RLC_circuit</a:t>
            </a:r>
            <a:endParaRPr lang="en-US" sz="1800" kern="100" dirty="0">
              <a:effectLst/>
              <a:ea typeface="Aptos" panose="020B0004020202020204" pitchFamily="34" charset="0"/>
              <a:cs typeface="Times New Roman" panose="02020603050405020304" pitchFamily="18" charset="0"/>
            </a:endParaRPr>
          </a:p>
          <a:p>
            <a:pPr marL="342900" marR="0" lvl="0" indent="-342900">
              <a:lnSpc>
                <a:spcPct val="115000"/>
              </a:lnSpc>
              <a:buFont typeface="Times New Roman" panose="02020603050405020304" pitchFamily="18" charset="0"/>
              <a:buAutoNum type="arabicPeriod"/>
            </a:pPr>
            <a:r>
              <a:rPr lang="en-US" sz="1800" kern="100" dirty="0">
                <a:ea typeface="Aptos" panose="020B0004020202020204" pitchFamily="34" charset="0"/>
                <a:cs typeface="Times New Roman" panose="02020603050405020304" pitchFamily="18" charset="0"/>
              </a:rPr>
              <a:t>https://electronics-formulas.com/calculating-parallel-rlc-circuit/</a:t>
            </a:r>
            <a:endParaRPr lang="ro-RO" sz="1800" kern="100" dirty="0">
              <a:effectLst/>
              <a:ea typeface="Aptos" panose="020B0004020202020204" pitchFamily="34" charset="0"/>
              <a:cs typeface="Times New Roman" panose="02020603050405020304" pitchFamily="18" charset="0"/>
            </a:endParaRPr>
          </a:p>
          <a:p>
            <a:pPr marL="342900" marR="0" lvl="0" indent="-342900">
              <a:lnSpc>
                <a:spcPct val="115000"/>
              </a:lnSpc>
              <a:spcAft>
                <a:spcPts val="800"/>
              </a:spcAft>
              <a:buFont typeface="Times New Roman" panose="02020603050405020304" pitchFamily="18" charset="0"/>
              <a:buAutoNum type="arabicPeriod"/>
            </a:pPr>
            <a:r>
              <a:rPr lang="en-US" sz="1800" kern="100" dirty="0">
                <a:effectLst/>
                <a:ea typeface="Aptos" panose="020B0004020202020204" pitchFamily="34" charset="0"/>
                <a:cs typeface="Times New Roman" panose="02020603050405020304" pitchFamily="18" charset="0"/>
              </a:rPr>
              <a:t>ChatGPT – for sound button</a:t>
            </a:r>
            <a:endParaRPr lang="ro-RO" sz="1800" kern="100" dirty="0">
              <a:effectLst/>
              <a:ea typeface="Aptos" panose="020B0004020202020204" pitchFamily="34" charset="0"/>
              <a:cs typeface="Times New Roman" panose="02020603050405020304" pitchFamily="18" charset="0"/>
            </a:endParaRPr>
          </a:p>
          <a:p>
            <a:pPr marL="342900" marR="0" lvl="0" indent="-342900">
              <a:lnSpc>
                <a:spcPct val="115000"/>
              </a:lnSpc>
              <a:spcAft>
                <a:spcPts val="800"/>
              </a:spcAft>
              <a:buFont typeface="Times New Roman" panose="02020603050405020304" pitchFamily="18" charset="0"/>
              <a:buAutoNum type="arabicPeriod"/>
            </a:pPr>
            <a:endParaRPr lang="ro-RO"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ro-RO" dirty="0"/>
          </a:p>
        </p:txBody>
      </p:sp>
    </p:spTree>
    <p:extLst>
      <p:ext uri="{BB962C8B-B14F-4D97-AF65-F5344CB8AC3E}">
        <p14:creationId xmlns:p14="http://schemas.microsoft.com/office/powerpoint/2010/main" val="169023974"/>
      </p:ext>
    </p:extLst>
  </p:cSld>
  <p:clrMapOvr>
    <a:masterClrMapping/>
  </p:clrMapOvr>
  <p:transition spd="slow">
    <p:push dir="u"/>
  </p:transition>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1174801-1395-44C5-9B00-CCAC45C056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8DBEE602-02D2-420A-AFC1-438A1699A5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61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 name="Title 1">
            <a:extLst>
              <a:ext uri="{FF2B5EF4-FFF2-40B4-BE49-F238E27FC236}">
                <a16:creationId xmlns:a16="http://schemas.microsoft.com/office/drawing/2014/main" id="{7489DF7A-DDA8-1B4B-3FD1-6C4D6B08A7DC}"/>
              </a:ext>
            </a:extLst>
          </p:cNvPr>
          <p:cNvSpPr>
            <a:spLocks noGrp="1"/>
          </p:cNvSpPr>
          <p:nvPr>
            <p:ph type="ctrTitle"/>
          </p:nvPr>
        </p:nvSpPr>
        <p:spPr>
          <a:xfrm>
            <a:off x="838200" y="509847"/>
            <a:ext cx="3962400" cy="2895600"/>
          </a:xfrm>
        </p:spPr>
        <p:txBody>
          <a:bodyPr anchor="b">
            <a:normAutofit/>
          </a:bodyPr>
          <a:lstStyle/>
          <a:p>
            <a:pPr algn="l"/>
            <a:r>
              <a:rPr lang="en-US" dirty="0">
                <a:solidFill>
                  <a:schemeClr val="tx2"/>
                </a:solidFill>
              </a:rPr>
              <a:t>THANK YOU!</a:t>
            </a:r>
            <a:endParaRPr lang="ro-RO" dirty="0">
              <a:solidFill>
                <a:schemeClr val="tx2"/>
              </a:solidFill>
            </a:endParaRPr>
          </a:p>
        </p:txBody>
      </p:sp>
      <p:pic>
        <p:nvPicPr>
          <p:cNvPr id="6" name="Graphic 5" descr="Handshake">
            <a:extLst>
              <a:ext uri="{FF2B5EF4-FFF2-40B4-BE49-F238E27FC236}">
                <a16:creationId xmlns:a16="http://schemas.microsoft.com/office/drawing/2014/main" id="{A81C725A-4500-2EE6-D360-41D0992459B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931062" y="509847"/>
            <a:ext cx="4913204" cy="4913204"/>
          </a:xfrm>
          <a:prstGeom prst="rect">
            <a:avLst/>
          </a:prstGeom>
        </p:spPr>
      </p:pic>
      <p:sp>
        <p:nvSpPr>
          <p:cNvPr id="13" name="Rectangle 12">
            <a:extLst>
              <a:ext uri="{FF2B5EF4-FFF2-40B4-BE49-F238E27FC236}">
                <a16:creationId xmlns:a16="http://schemas.microsoft.com/office/drawing/2014/main" id="{B3FAB79E-1E1B-4287-B4EA-26E497404C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730812"/>
            <a:ext cx="12192000" cy="1127188"/>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5" name="Rectangle 14">
            <a:extLst>
              <a:ext uri="{FF2B5EF4-FFF2-40B4-BE49-F238E27FC236}">
                <a16:creationId xmlns:a16="http://schemas.microsoft.com/office/drawing/2014/main" id="{A22256D1-A993-4D2E-943C-2E87F8BFC6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60" y="5730813"/>
            <a:ext cx="12191999" cy="1127186"/>
          </a:xfrm>
          <a:prstGeom prst="rect">
            <a:avLst/>
          </a:prstGeom>
          <a:blipFill dpi="0" rotWithShape="1">
            <a:blip r:embed="rId4">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4648701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nodeType="withEffect">
                                  <p:stCondLst>
                                    <p:cond delay="500"/>
                                  </p:stCondLst>
                                  <p:iterate>
                                    <p:tmPct val="10000"/>
                                  </p:iterate>
                                  <p:childTnLst>
                                    <p:set>
                                      <p:cBhvr>
                                        <p:cTn id="9" dur="1" fill="hold">
                                          <p:stCondLst>
                                            <p:cond delay="0"/>
                                          </p:stCondLst>
                                        </p:cTn>
                                        <p:tgtEl>
                                          <p:spTgt spid="6"/>
                                        </p:tgtEl>
                                        <p:attrNameLst>
                                          <p:attrName>style.visibility</p:attrName>
                                        </p:attrNameLst>
                                      </p:cBhvr>
                                      <p:to>
                                        <p:strVal val="visible"/>
                                      </p:to>
                                    </p:set>
                                    <p:animEffect transition="in" filter="fade">
                                      <p:cBhvr>
                                        <p:cTn id="10" dur="7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BlockprintVTI">
  <a:themeElements>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ockprintVTI" id="{AA8C8908-6BA4-477C-AEA4-CB6C32A1FE3B}" vid="{36392749-7C1D-4938-93BB-440CD2A1B0AB}"/>
    </a:ext>
  </a:extLst>
</a:theme>
</file>

<file path=docProps/app.xml><?xml version="1.0" encoding="utf-8"?>
<Properties xmlns="http://schemas.openxmlformats.org/officeDocument/2006/extended-properties" xmlns:vt="http://schemas.openxmlformats.org/officeDocument/2006/docPropsVTypes">
  <Template/>
  <TotalTime>55</TotalTime>
  <Words>1358</Words>
  <Application>Microsoft Office PowerPoint</Application>
  <PresentationFormat>Widescreen</PresentationFormat>
  <Paragraphs>94</Paragraphs>
  <Slides>30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Aptos</vt:lpstr>
      <vt:lpstr>Arial</vt:lpstr>
      <vt:lpstr>Avenir Next LT Pro</vt:lpstr>
      <vt:lpstr>AvenirNext LT Pro Medium</vt:lpstr>
      <vt:lpstr>Times New Roman</vt:lpstr>
      <vt:lpstr>BlockprintVTI</vt:lpstr>
      <vt:lpstr>RLC PARALLEL CIRCUIT</vt:lpstr>
      <vt:lpstr>Content:</vt:lpstr>
      <vt:lpstr>CODE OVERVIEW</vt:lpstr>
      <vt:lpstr>MAIN.m</vt:lpstr>
      <vt:lpstr>menu.m</vt:lpstr>
      <vt:lpstr>PowerPoint Presentation</vt:lpstr>
      <vt:lpstr>PowerPoint Presentation</vt:lpstr>
      <vt:lpstr>PowerPoint Presentation</vt:lpstr>
      <vt:lpstr>PowerPoint Presentation</vt:lpstr>
      <vt:lpstr>PowerPoint Presentation</vt:lpstr>
      <vt:lpstr>parallel.m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showpic.m</vt:lpstr>
      <vt:lpstr>THEORETICAL ASPECTS</vt:lpstr>
      <vt:lpstr>Definitions </vt:lpstr>
      <vt:lpstr>Formulas</vt:lpstr>
      <vt:lpstr>INTERFACE</vt:lpstr>
      <vt:lpstr>PowerPoint Presentation</vt:lpstr>
      <vt:lpstr>PowerPoint Presentation</vt:lpstr>
      <vt:lpstr>BIBLIOGRAPHY</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Maria Madalina Rusu</dc:creator>
  <cp:lastModifiedBy>Maria Madalina Rusu</cp:lastModifiedBy>
  <cp:revision>3</cp:revision>
  <dcterms:created xsi:type="dcterms:W3CDTF">2025-01-06T18:52:59Z</dcterms:created>
  <dcterms:modified xsi:type="dcterms:W3CDTF">2025-01-06T23:38:05Z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b58b62f-6f94-46bd-8089-18e64b0a9abb_Enabled">
    <vt:lpwstr>true</vt:lpwstr>
  </property>
  <property fmtid="{D5CDD505-2E9C-101B-9397-08002B2CF9AE}" pid="3" name="MSIP_Label_5b58b62f-6f94-46bd-8089-18e64b0a9abb_SetDate">
    <vt:lpwstr>2025-01-06T22:33:48Z</vt:lpwstr>
  </property>
  <property fmtid="{D5CDD505-2E9C-101B-9397-08002B2CF9AE}" pid="4" name="MSIP_Label_5b58b62f-6f94-46bd-8089-18e64b0a9abb_Method">
    <vt:lpwstr>Standard</vt:lpwstr>
  </property>
  <property fmtid="{D5CDD505-2E9C-101B-9397-08002B2CF9AE}" pid="5" name="MSIP_Label_5b58b62f-6f94-46bd-8089-18e64b0a9abb_Name">
    <vt:lpwstr>defa4170-0d19-0005-0004-bc88714345d2</vt:lpwstr>
  </property>
  <property fmtid="{D5CDD505-2E9C-101B-9397-08002B2CF9AE}" pid="6" name="MSIP_Label_5b58b62f-6f94-46bd-8089-18e64b0a9abb_SiteId">
    <vt:lpwstr>a6eb79fa-c4a9-4cce-818d-b85274d15305</vt:lpwstr>
  </property>
  <property fmtid="{D5CDD505-2E9C-101B-9397-08002B2CF9AE}" pid="7" name="MSIP_Label_5b58b62f-6f94-46bd-8089-18e64b0a9abb_ActionId">
    <vt:lpwstr>a51abc4d-0e11-46d0-b742-53a6df7362a1</vt:lpwstr>
  </property>
  <property fmtid="{D5CDD505-2E9C-101B-9397-08002B2CF9AE}" pid="8" name="MSIP_Label_5b58b62f-6f94-46bd-8089-18e64b0a9abb_ContentBits">
    <vt:lpwstr>0</vt:lpwstr>
  </property>
</Properties>
</file>